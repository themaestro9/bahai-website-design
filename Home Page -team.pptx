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bold.fntdata"/><Relationship Id="rId14" Type="http://schemas.openxmlformats.org/officeDocument/2006/relationships/slide" Target="slides/slide9.xml"/><Relationship Id="rId36" Type="http://schemas.openxmlformats.org/officeDocument/2006/relationships/font" Target="fonts/Roboto-regular.fntdata"/><Relationship Id="rId17" Type="http://schemas.openxmlformats.org/officeDocument/2006/relationships/slide" Target="slides/slide12.xml"/><Relationship Id="rId39" Type="http://schemas.openxmlformats.org/officeDocument/2006/relationships/font" Target="fonts/Roboto-boldItalic.fntdata"/><Relationship Id="rId16" Type="http://schemas.openxmlformats.org/officeDocument/2006/relationships/slide" Target="slides/slide11.xml"/><Relationship Id="rId38" Type="http://schemas.openxmlformats.org/officeDocument/2006/relationships/font" Target="fonts/Robo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eb0a93c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ceb0a93cb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2f1f4e78c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2f1f4e78c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eb0a93cb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3ceb0a93cb6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eb0a93cb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3ceb0a93cb6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2f1f4e78c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2f1f4e78c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2f1f4e78c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d2f1f4e78c_3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2f1f4e78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d2f1f4e78c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2f1f4e78c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2f1f4e78c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eb0a93cb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ceb0a93cb6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2f1f4e78c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d2f1f4e78c_3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eb0a93cb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ceb0a93cb6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2f1f4e78c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2f1f4e78c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eb0a93cb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ceb0a93cb6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2f1f4e78c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d2f1f4e78c_3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543991f5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9543991f56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543991f5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9543991f56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543991f5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9543991f56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2f1f4e78c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d2f1f4e78c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2f1f4e78c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2f1f4e78c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2f1f4e78c_3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2f1f4e78c_3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2f1f4e78c_3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2f1f4e78c_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543991f5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9543991f5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543991f5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9543991f56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543991f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9543991f5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www.youtube.com/watch?v=UWuXlMMeUiI&amp;list=RDUWuXlMMeUiI&amp;start_radio=1" TargetMode="External"/><Relationship Id="rId4" Type="http://schemas.openxmlformats.org/officeDocument/2006/relationships/hyperlink" Target="https://www.youtube.com/watch?v=dGsjz2DCuBs&amp;list=RDUWuXlMMeUiI&amp;index=2" TargetMode="External"/><Relationship Id="rId9" Type="http://schemas.openxmlformats.org/officeDocument/2006/relationships/hyperlink" Target="https://www.youtube.com/watch?v=2uHogclr9Ec" TargetMode="External"/><Relationship Id="rId5" Type="http://schemas.openxmlformats.org/officeDocument/2006/relationships/hyperlink" Target="https://www.youtube.com/watch?v=PS9eyyq1gMc&amp;list=RDUWuXlMMeUiI&amp;index=3" TargetMode="External"/><Relationship Id="rId6" Type="http://schemas.openxmlformats.org/officeDocument/2006/relationships/hyperlink" Target="https://www.youtube.com/watch?v=sIeB8wCqQjw&amp;list=RDUWuXlMMeUiI&amp;index=20" TargetMode="External"/><Relationship Id="rId7" Type="http://schemas.openxmlformats.org/officeDocument/2006/relationships/hyperlink" Target="https://www.youtube.com/watch?v=Qm8mIXQaMcg" TargetMode="External"/><Relationship Id="rId8" Type="http://schemas.openxmlformats.org/officeDocument/2006/relationships/hyperlink" Target="https://www.youtube.com/watch?v=8IO2Uy_HjFg&amp;pp=0gcJCaIKAYcqIYzv" TargetMode="External"/></Relationships>
</file>

<file path=ppt/slides/_rels/slide28.xml.rels><?xml version="1.0" encoding="UTF-8" standalone="yes"?><Relationships xmlns="http://schemas.openxmlformats.org/package/2006/relationships"><Relationship Id="rId11" Type="http://schemas.openxmlformats.org/officeDocument/2006/relationships/hyperlink" Target="https://www.youtube.com/watch?v=b7YSy6io0C4&amp;pp=ygUQ2KfZhNio2YfYp9im2YrYqQ%3D%3D" TargetMode="External"/><Relationship Id="rId10" Type="http://schemas.openxmlformats.org/officeDocument/2006/relationships/hyperlink" Target="https://www.youtube.com/watch?v=b7YSy6io0C4&amp;pp=ygUQ2KfZhNio2YfYp9im2YrYqQ%3D%3D" TargetMode="External"/><Relationship Id="rId13" Type="http://schemas.openxmlformats.org/officeDocument/2006/relationships/hyperlink" Target="https://www.youtube.com/watch?v=tbj1LFJhvBE&amp;pp=ygUQ2KfZhNio2YfYp9im2YrYqQ%3D%3D" TargetMode="External"/><Relationship Id="rId12" Type="http://schemas.openxmlformats.org/officeDocument/2006/relationships/hyperlink" Target="https://www.youtube.com/watch?v=tbj1LFJhvBE&amp;pp=ygUQ2KfZhNio2YfYp9im2YrYqQ%3D%3D" TargetMode="External"/><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www.youtube.com/watch?v=8nCbMl_76Xo&amp;pp=ygUQ2KfZhNio2YfYp9im2YrYqQ%3D%3D" TargetMode="External"/><Relationship Id="rId4" Type="http://schemas.openxmlformats.org/officeDocument/2006/relationships/hyperlink" Target="https://www.youtube.com/watch?v=8nCbMl_76Xo&amp;pp=ygUQ2KfZhNio2YfYp9im2YrYqQ%3D%3D" TargetMode="External"/><Relationship Id="rId9" Type="http://schemas.openxmlformats.org/officeDocument/2006/relationships/hyperlink" Target="https://www.youtube.com/watch?v=ZfjYYyZbGjY&amp;pp=ygUQ2KfZhNio2YfYp9im2YrYqQ%3D%3D" TargetMode="External"/><Relationship Id="rId15" Type="http://schemas.openxmlformats.org/officeDocument/2006/relationships/hyperlink" Target="https://www.youtube.com/watch?v=VzOsUOQCkTI" TargetMode="External"/><Relationship Id="rId14" Type="http://schemas.openxmlformats.org/officeDocument/2006/relationships/hyperlink" Target="https://www.youtube.com/watch?v=MGpDFxOR73k" TargetMode="External"/><Relationship Id="rId16" Type="http://schemas.openxmlformats.org/officeDocument/2006/relationships/hyperlink" Target="https://www.youtube.com/watch?v=mbVe4dNha_M" TargetMode="External"/><Relationship Id="rId5" Type="http://schemas.openxmlformats.org/officeDocument/2006/relationships/hyperlink" Target="https://www.youtube.com/watch?v=jaz0jNwfz8s&amp;pp=ygUQ2KfZhNio2YfYp9im2YrYqQ%3D%3D" TargetMode="External"/><Relationship Id="rId6" Type="http://schemas.openxmlformats.org/officeDocument/2006/relationships/hyperlink" Target="https://www.youtube.com/watch?v=6-_AqkWckwc&amp;pp=ygUQ2KfZhNio2YfYp9im2YrYqQ%3D%3D" TargetMode="External"/><Relationship Id="rId7" Type="http://schemas.openxmlformats.org/officeDocument/2006/relationships/hyperlink" Target="https://www.youtube.com/watch?v=6-_AqkWckwc&amp;pp=ygUQ2KfZhNio2YfYp9im2YrYqQ%3D%3D" TargetMode="External"/><Relationship Id="rId8" Type="http://schemas.openxmlformats.org/officeDocument/2006/relationships/hyperlink" Target="https://www.youtube.com/watch?v=ZfjYYyZbGjY&amp;pp=ygUQ2KfZhNio2YfYp9im2YrYqQ%3D%3D" TargetMode="External"/></Relationships>
</file>

<file path=ppt/slides/_rels/slide29.xml.rels><?xml version="1.0" encoding="UTF-8" standalone="yes"?><Relationships xmlns="http://schemas.openxmlformats.org/package/2006/relationships"><Relationship Id="rId11" Type="http://schemas.openxmlformats.org/officeDocument/2006/relationships/hyperlink" Target="https://www.bic.org/news/bic-cairo-cop-27-shares-egyptian-bahai-communitys-development-activities" TargetMode="External"/><Relationship Id="rId10" Type="http://schemas.openxmlformats.org/officeDocument/2006/relationships/hyperlink" Target="https://www.bic.org/statements/statement-bahai-international-community-regarding-human-rights-egypt" TargetMode="External"/><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bic.org/news/un-experts-address-egypt-rights-violations-against-bahai-community-unprecedented-intervention" TargetMode="External"/><Relationship Id="rId4" Type="http://schemas.openxmlformats.org/officeDocument/2006/relationships/hyperlink" Target="https://www.bic.org/statements/statement-egypt-during-59th-un-human-rights-council" TargetMode="External"/><Relationship Id="rId9" Type="http://schemas.openxmlformats.org/officeDocument/2006/relationships/hyperlink" Target="https://www.bic.org/statements/statement-bahai-international-community-17th-session-united-nations-forum-minority-issues" TargetMode="External"/><Relationship Id="rId5" Type="http://schemas.openxmlformats.org/officeDocument/2006/relationships/hyperlink" Target="https://www.bic.org/statements/statement-egypt-during-58th-un-human-rights-council" TargetMode="External"/><Relationship Id="rId6" Type="http://schemas.openxmlformats.org/officeDocument/2006/relationships/hyperlink" Target="https://www.bic.org/news/amid-worsening-persecution-bahais-un-member-states-urge-egypt-respect-freedom-religion-or-belief-during-human-rights-review" TargetMode="External"/><Relationship Id="rId7" Type="http://schemas.openxmlformats.org/officeDocument/2006/relationships/hyperlink" Target="https://www.bic.org/news/egypt-must-be-held-accountable-persecuting-bahais-upcoming-un-human-rights-review" TargetMode="External"/><Relationship Id="rId8" Type="http://schemas.openxmlformats.org/officeDocument/2006/relationships/hyperlink" Target="https://www.bic.org/news/dangerous-new-front-bahai-international-community-expresses-concern-over-involvement-egyptian-authorities-targeting-bahai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7861150" y="345050"/>
            <a:ext cx="888000" cy="365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5" name="Google Shape;55;p13"/>
          <p:cNvCxnSpPr/>
          <p:nvPr/>
        </p:nvCxnSpPr>
        <p:spPr>
          <a:xfrm>
            <a:off x="2038725" y="803400"/>
            <a:ext cx="6782100" cy="0"/>
          </a:xfrm>
          <a:prstGeom prst="straightConnector1">
            <a:avLst/>
          </a:prstGeom>
          <a:noFill/>
          <a:ln cap="flat" cmpd="sng" w="9525">
            <a:solidFill>
              <a:schemeClr val="dk2"/>
            </a:solidFill>
            <a:prstDash val="solid"/>
            <a:round/>
            <a:headEnd len="sm" w="sm" type="none"/>
            <a:tailEnd len="sm" w="sm" type="none"/>
          </a:ln>
        </p:spPr>
      </p:cxnSp>
      <p:sp>
        <p:nvSpPr>
          <p:cNvPr id="56" name="Google Shape;56;p13"/>
          <p:cNvSpPr txBox="1"/>
          <p:nvPr/>
        </p:nvSpPr>
        <p:spPr>
          <a:xfrm>
            <a:off x="7939925" y="416675"/>
            <a:ext cx="716100" cy="236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الرئيسية</a:t>
            </a:r>
            <a:endParaRPr b="0" i="0" sz="1600" u="none" cap="none" strike="noStrike">
              <a:solidFill>
                <a:schemeClr val="dk2"/>
              </a:solidFill>
              <a:latin typeface="Arial"/>
              <a:ea typeface="Arial"/>
              <a:cs typeface="Arial"/>
              <a:sym typeface="Arial"/>
            </a:endParaRPr>
          </a:p>
        </p:txBody>
      </p:sp>
      <p:sp>
        <p:nvSpPr>
          <p:cNvPr id="57" name="Google Shape;57;p13"/>
          <p:cNvSpPr txBox="1"/>
          <p:nvPr/>
        </p:nvSpPr>
        <p:spPr>
          <a:xfrm>
            <a:off x="6710100" y="416675"/>
            <a:ext cx="888000" cy="236400"/>
          </a:xfrm>
          <a:prstGeom prst="rect">
            <a:avLst/>
          </a:prstGeom>
          <a:noFill/>
          <a:ln>
            <a:noFill/>
          </a:ln>
        </p:spPr>
        <p:txBody>
          <a:bodyPr anchorCtr="0" anchor="ctr" bIns="91425" lIns="91425" spcFirstLastPara="1" rIns="91425" wrap="square" tIns="91425">
            <a:noAutofit/>
          </a:bodyPr>
          <a:lstStyle/>
          <a:p>
            <a:pPr indent="0" lvl="0" marL="0" rtl="1" algn="r">
              <a:lnSpc>
                <a:spcPct val="115000"/>
              </a:lnSpc>
              <a:spcBef>
                <a:spcPts val="2400"/>
              </a:spcBef>
              <a:spcAft>
                <a:spcPts val="0"/>
              </a:spcAft>
              <a:buClr>
                <a:schemeClr val="dk1"/>
              </a:buClr>
              <a:buSzPts val="1100"/>
              <a:buFont typeface="Arial"/>
              <a:buNone/>
            </a:pPr>
            <a:r>
              <a:rPr b="1" lang="en" sz="900">
                <a:solidFill>
                  <a:srgbClr val="366091"/>
                </a:solidFill>
                <a:latin typeface="Calibri"/>
                <a:ea typeface="Calibri"/>
                <a:cs typeface="Calibri"/>
                <a:sym typeface="Calibri"/>
              </a:rPr>
              <a:t>البهائيون في مصر</a:t>
            </a:r>
            <a:endParaRPr sz="700">
              <a:solidFill>
                <a:schemeClr val="dk2"/>
              </a:solidFill>
            </a:endParaRPr>
          </a:p>
        </p:txBody>
      </p:sp>
      <p:sp>
        <p:nvSpPr>
          <p:cNvPr id="58" name="Google Shape;58;p13"/>
          <p:cNvSpPr txBox="1"/>
          <p:nvPr/>
        </p:nvSpPr>
        <p:spPr>
          <a:xfrm>
            <a:off x="5818425" y="418475"/>
            <a:ext cx="992100" cy="236400"/>
          </a:xfrm>
          <a:prstGeom prst="rect">
            <a:avLst/>
          </a:prstGeom>
          <a:noFill/>
          <a:ln>
            <a:noFill/>
          </a:ln>
        </p:spPr>
        <p:txBody>
          <a:bodyPr anchorCtr="0" anchor="ctr" bIns="91425" lIns="91425" spcFirstLastPara="1" rIns="91425" wrap="square" tIns="91425">
            <a:noAutofit/>
          </a:bodyPr>
          <a:lstStyle/>
          <a:p>
            <a:pPr indent="0" lvl="0" marL="0" rtl="1" algn="r">
              <a:lnSpc>
                <a:spcPct val="115000"/>
              </a:lnSpc>
              <a:spcBef>
                <a:spcPts val="2400"/>
              </a:spcBef>
              <a:spcAft>
                <a:spcPts val="0"/>
              </a:spcAft>
              <a:buClr>
                <a:schemeClr val="dk1"/>
              </a:buClr>
              <a:buSzPts val="1100"/>
              <a:buFont typeface="Arial"/>
              <a:buNone/>
            </a:pPr>
            <a:r>
              <a:rPr b="1" lang="en" sz="900">
                <a:solidFill>
                  <a:srgbClr val="366091"/>
                </a:solidFill>
                <a:latin typeface="Calibri"/>
                <a:ea typeface="Calibri"/>
                <a:cs typeface="Calibri"/>
                <a:sym typeface="Calibri"/>
              </a:rPr>
              <a:t>ما يؤمنون به </a:t>
            </a:r>
            <a:endParaRPr b="0" i="0" sz="900" u="none" cap="none" strike="noStrike">
              <a:solidFill>
                <a:schemeClr val="dk2"/>
              </a:solidFill>
              <a:latin typeface="Arial"/>
              <a:ea typeface="Arial"/>
              <a:cs typeface="Arial"/>
              <a:sym typeface="Arial"/>
            </a:endParaRPr>
          </a:p>
        </p:txBody>
      </p:sp>
      <p:sp>
        <p:nvSpPr>
          <p:cNvPr id="59" name="Google Shape;59;p13"/>
          <p:cNvSpPr txBox="1"/>
          <p:nvPr/>
        </p:nvSpPr>
        <p:spPr>
          <a:xfrm>
            <a:off x="5018300" y="418475"/>
            <a:ext cx="1143000" cy="236400"/>
          </a:xfrm>
          <a:prstGeom prst="rect">
            <a:avLst/>
          </a:prstGeom>
          <a:noFill/>
          <a:ln>
            <a:noFill/>
          </a:ln>
        </p:spPr>
        <p:txBody>
          <a:bodyPr anchorCtr="0" anchor="ctr" bIns="91425" lIns="91425" spcFirstLastPara="1" rIns="91425" wrap="square" tIns="91425">
            <a:noAutofit/>
          </a:bodyPr>
          <a:lstStyle/>
          <a:p>
            <a:pPr indent="0" lvl="0" marL="0" rtl="1" algn="ctr">
              <a:lnSpc>
                <a:spcPct val="115000"/>
              </a:lnSpc>
              <a:spcBef>
                <a:spcPts val="2400"/>
              </a:spcBef>
              <a:spcAft>
                <a:spcPts val="0"/>
              </a:spcAft>
              <a:buClr>
                <a:schemeClr val="dk1"/>
              </a:buClr>
              <a:buSzPts val="1100"/>
              <a:buFont typeface="Arial"/>
              <a:buNone/>
            </a:pPr>
            <a:r>
              <a:rPr b="1" lang="en" sz="900">
                <a:solidFill>
                  <a:srgbClr val="366091"/>
                </a:solidFill>
                <a:latin typeface="Calibri"/>
                <a:ea typeface="Calibri"/>
                <a:cs typeface="Calibri"/>
                <a:sym typeface="Calibri"/>
              </a:rPr>
              <a:t>مساهماتهم</a:t>
            </a:r>
            <a:endParaRPr b="1" sz="900">
              <a:solidFill>
                <a:srgbClr val="366091"/>
              </a:solidFill>
              <a:latin typeface="Calibri"/>
              <a:ea typeface="Calibri"/>
              <a:cs typeface="Calibri"/>
              <a:sym typeface="Calibri"/>
            </a:endParaRPr>
          </a:p>
        </p:txBody>
      </p:sp>
      <p:sp>
        <p:nvSpPr>
          <p:cNvPr id="60" name="Google Shape;60;p13"/>
          <p:cNvSpPr txBox="1"/>
          <p:nvPr/>
        </p:nvSpPr>
        <p:spPr>
          <a:xfrm>
            <a:off x="3919849" y="458375"/>
            <a:ext cx="1175400" cy="196500"/>
          </a:xfrm>
          <a:prstGeom prst="rect">
            <a:avLst/>
          </a:prstGeom>
          <a:noFill/>
          <a:ln>
            <a:noFill/>
          </a:ln>
        </p:spPr>
        <p:txBody>
          <a:bodyPr anchorCtr="0" anchor="ctr" bIns="91425" lIns="91425" spcFirstLastPara="1" rIns="91425" wrap="square" tIns="91425">
            <a:noAutofit/>
          </a:bodyPr>
          <a:lstStyle/>
          <a:p>
            <a:pPr indent="0" lvl="0" marL="0" rtl="1" algn="r">
              <a:lnSpc>
                <a:spcPct val="115000"/>
              </a:lnSpc>
              <a:spcBef>
                <a:spcPts val="2400"/>
              </a:spcBef>
              <a:spcAft>
                <a:spcPts val="0"/>
              </a:spcAft>
              <a:buClr>
                <a:schemeClr val="dk1"/>
              </a:buClr>
              <a:buSzPts val="1100"/>
              <a:buFont typeface="Arial"/>
              <a:buNone/>
            </a:pPr>
            <a:r>
              <a:rPr b="1" lang="en" sz="1000">
                <a:solidFill>
                  <a:srgbClr val="366091"/>
                </a:solidFill>
                <a:latin typeface="Calibri"/>
                <a:ea typeface="Calibri"/>
                <a:cs typeface="Calibri"/>
                <a:sym typeface="Calibri"/>
              </a:rPr>
              <a:t>تاريخ البهائية في مصر</a:t>
            </a:r>
            <a:endParaRPr sz="1600">
              <a:solidFill>
                <a:schemeClr val="dk2"/>
              </a:solidFill>
            </a:endParaRPr>
          </a:p>
        </p:txBody>
      </p:sp>
      <p:sp>
        <p:nvSpPr>
          <p:cNvPr id="61" name="Google Shape;61;p13"/>
          <p:cNvSpPr txBox="1"/>
          <p:nvPr/>
        </p:nvSpPr>
        <p:spPr>
          <a:xfrm>
            <a:off x="1417007" y="458375"/>
            <a:ext cx="1506000" cy="196500"/>
          </a:xfrm>
          <a:prstGeom prst="rect">
            <a:avLst/>
          </a:prstGeom>
          <a:noFill/>
          <a:ln>
            <a:noFill/>
          </a:ln>
        </p:spPr>
        <p:txBody>
          <a:bodyPr anchorCtr="0" anchor="ctr" bIns="91425" lIns="91425" spcFirstLastPara="1" rIns="91425" wrap="square" tIns="91425">
            <a:noAutofit/>
          </a:bodyPr>
          <a:lstStyle/>
          <a:p>
            <a:pPr indent="0" lvl="0" marL="0" marR="0" rtl="1" algn="r">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تواصل معنا</a:t>
            </a:r>
            <a:endParaRPr b="0" i="0" sz="1600" u="none" cap="none" strike="noStrike">
              <a:solidFill>
                <a:schemeClr val="dk2"/>
              </a:solidFill>
              <a:latin typeface="Arial"/>
              <a:ea typeface="Arial"/>
              <a:cs typeface="Arial"/>
              <a:sym typeface="Arial"/>
            </a:endParaRPr>
          </a:p>
        </p:txBody>
      </p:sp>
      <p:sp>
        <p:nvSpPr>
          <p:cNvPr id="62" name="Google Shape;62;p13"/>
          <p:cNvSpPr txBox="1"/>
          <p:nvPr/>
        </p:nvSpPr>
        <p:spPr>
          <a:xfrm>
            <a:off x="51125" y="1011075"/>
            <a:ext cx="1119000" cy="544200"/>
          </a:xfrm>
          <a:prstGeom prst="rect">
            <a:avLst/>
          </a:prstGeom>
          <a:noFill/>
          <a:ln>
            <a:noFill/>
          </a:ln>
        </p:spPr>
        <p:txBody>
          <a:bodyPr anchorCtr="0" anchor="ctr" bIns="91425" lIns="91425" spcFirstLastPara="1" rIns="91425" wrap="square" tIns="91425">
            <a:noAutofit/>
          </a:bodyPr>
          <a:lstStyle/>
          <a:p>
            <a:pPr indent="0" lvl="0" marL="0" marR="0" rtl="1" algn="ctr">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التاريخ البهائي </a:t>
            </a:r>
            <a:r>
              <a:rPr b="0" i="0" lang="en" sz="1400" u="none" cap="none" strike="noStrike">
                <a:solidFill>
                  <a:srgbClr val="000000"/>
                </a:solidFill>
                <a:latin typeface="Arial"/>
                <a:ea typeface="Arial"/>
                <a:cs typeface="Arial"/>
                <a:sym typeface="Arial"/>
              </a:rPr>
              <a:t>Date </a:t>
            </a:r>
            <a:endParaRPr b="0" i="0" sz="1400" u="none" cap="none" strike="noStrike">
              <a:solidFill>
                <a:srgbClr val="000000"/>
              </a:solidFill>
              <a:latin typeface="Arial"/>
              <a:ea typeface="Arial"/>
              <a:cs typeface="Arial"/>
              <a:sym typeface="Arial"/>
            </a:endParaRPr>
          </a:p>
        </p:txBody>
      </p:sp>
      <p:sp>
        <p:nvSpPr>
          <p:cNvPr id="63" name="Google Shape;63;p13"/>
          <p:cNvSpPr/>
          <p:nvPr/>
        </p:nvSpPr>
        <p:spPr>
          <a:xfrm>
            <a:off x="51125" y="168000"/>
            <a:ext cx="1229100" cy="807300"/>
          </a:xfrm>
          <a:prstGeom prst="roundRect">
            <a:avLst>
              <a:gd fmla="val 16667" name="adj"/>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Logo</a:t>
            </a:r>
            <a:endParaRPr b="0" i="0" sz="1400" u="none" cap="none" strike="noStrike">
              <a:solidFill>
                <a:srgbClr val="000000"/>
              </a:solidFill>
              <a:latin typeface="Arial"/>
              <a:ea typeface="Arial"/>
              <a:cs typeface="Arial"/>
              <a:sym typeface="Arial"/>
            </a:endParaRPr>
          </a:p>
        </p:txBody>
      </p:sp>
      <p:pic>
        <p:nvPicPr>
          <p:cNvPr id="64" name="Google Shape;64;p13" title="Old Egypt.jfif"/>
          <p:cNvPicPr preferRelativeResize="0"/>
          <p:nvPr/>
        </p:nvPicPr>
        <p:blipFill rotWithShape="1">
          <a:blip r:embed="rId3">
            <a:alphaModFix/>
          </a:blip>
          <a:srcRect b="0" l="0" r="0" t="0"/>
          <a:stretch/>
        </p:blipFill>
        <p:spPr>
          <a:xfrm>
            <a:off x="1417000" y="951913"/>
            <a:ext cx="6181106" cy="4123537"/>
          </a:xfrm>
          <a:prstGeom prst="rect">
            <a:avLst/>
          </a:prstGeom>
          <a:noFill/>
          <a:ln>
            <a:noFill/>
          </a:ln>
        </p:spPr>
      </p:pic>
      <p:sp>
        <p:nvSpPr>
          <p:cNvPr id="65" name="Google Shape;65;p13"/>
          <p:cNvSpPr txBox="1"/>
          <p:nvPr/>
        </p:nvSpPr>
        <p:spPr>
          <a:xfrm>
            <a:off x="2448632" y="458375"/>
            <a:ext cx="1506000" cy="196500"/>
          </a:xfrm>
          <a:prstGeom prst="rect">
            <a:avLst/>
          </a:prstGeom>
          <a:noFill/>
          <a:ln>
            <a:noFill/>
          </a:ln>
        </p:spPr>
        <p:txBody>
          <a:bodyPr anchorCtr="0" anchor="ctr" bIns="91425" lIns="91425" spcFirstLastPara="1" rIns="91425" wrap="square" tIns="91425">
            <a:noAutofit/>
          </a:bodyPr>
          <a:lstStyle/>
          <a:p>
            <a:pPr indent="0" lvl="0" marL="0" rtl="1" algn="r">
              <a:lnSpc>
                <a:spcPct val="115000"/>
              </a:lnSpc>
              <a:spcBef>
                <a:spcPts val="2400"/>
              </a:spcBef>
              <a:spcAft>
                <a:spcPts val="0"/>
              </a:spcAft>
              <a:buClr>
                <a:schemeClr val="dk1"/>
              </a:buClr>
              <a:buSzPts val="1100"/>
              <a:buFont typeface="Arial"/>
              <a:buNone/>
            </a:pPr>
            <a:r>
              <a:rPr b="1" lang="en">
                <a:solidFill>
                  <a:srgbClr val="366091"/>
                </a:solidFill>
                <a:latin typeface="Calibri"/>
                <a:ea typeface="Calibri"/>
                <a:cs typeface="Calibri"/>
                <a:sym typeface="Calibri"/>
              </a:rPr>
              <a:t>الأسئلة الشائعة</a:t>
            </a:r>
            <a:endParaRPr sz="16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nvSpPr>
        <p:spPr>
          <a:xfrm>
            <a:off x="664925" y="781450"/>
            <a:ext cx="7773900" cy="3816300"/>
          </a:xfrm>
          <a:prstGeom prst="rect">
            <a:avLst/>
          </a:prstGeom>
          <a:noFill/>
          <a:ln>
            <a:noFill/>
          </a:ln>
        </p:spPr>
        <p:txBody>
          <a:bodyPr anchorCtr="0" anchor="ctr" bIns="91425" lIns="91425" spcFirstLastPara="1" rIns="91425" wrap="square" tIns="91425">
            <a:noAutofit/>
          </a:bodyPr>
          <a:lstStyle/>
          <a:p>
            <a:pPr indent="0" lvl="0" marL="0" marR="0" rtl="1" algn="ctr">
              <a:lnSpc>
                <a:spcPct val="115000"/>
              </a:lnSpc>
              <a:spcBef>
                <a:spcPts val="1200"/>
              </a:spcBef>
              <a:spcAft>
                <a:spcPts val="0"/>
              </a:spcAft>
              <a:buClr>
                <a:srgbClr val="000000"/>
              </a:buClr>
              <a:buSzPts val="2400"/>
              <a:buFont typeface="Arial"/>
              <a:buNone/>
            </a:pPr>
            <a:r>
              <a:rPr b="1" i="0" lang="en" sz="2400" u="none" cap="none" strike="noStrike">
                <a:solidFill>
                  <a:schemeClr val="dk1"/>
                </a:solidFill>
                <a:latin typeface="Arial"/>
                <a:ea typeface="Arial"/>
                <a:cs typeface="Arial"/>
                <a:sym typeface="Arial"/>
              </a:rPr>
              <a:t>"لم يزل كان إصلاح العالم بالأعمال الطيبة الطاهرة والأخلاق الراضية المرضية" </a:t>
            </a:r>
            <a:endParaRPr b="1" i="0" sz="2400" u="none" cap="none" strike="noStrike">
              <a:solidFill>
                <a:schemeClr val="dk1"/>
              </a:solidFill>
              <a:latin typeface="Arial"/>
              <a:ea typeface="Arial"/>
              <a:cs typeface="Arial"/>
              <a:sym typeface="Arial"/>
            </a:endParaRPr>
          </a:p>
          <a:p>
            <a:pPr indent="0" lvl="0" marL="0" marR="0" rtl="1" algn="ctr">
              <a:lnSpc>
                <a:spcPct val="115000"/>
              </a:lnSpc>
              <a:spcBef>
                <a:spcPts val="1200"/>
              </a:spcBef>
              <a:spcAft>
                <a:spcPts val="0"/>
              </a:spcAft>
              <a:buClr>
                <a:schemeClr val="dk1"/>
              </a:buClr>
              <a:buSzPts val="1100"/>
              <a:buFont typeface="Arial"/>
              <a:buNone/>
            </a:pPr>
            <a:r>
              <a:rPr b="1" i="0" lang="en" sz="2400" u="none" cap="none" strike="noStrike">
                <a:solidFill>
                  <a:schemeClr val="dk1"/>
                </a:solidFill>
                <a:latin typeface="Arial"/>
                <a:ea typeface="Arial"/>
                <a:cs typeface="Arial"/>
                <a:sym typeface="Arial"/>
              </a:rPr>
              <a:t> بهاء الله</a:t>
            </a:r>
            <a:endParaRPr b="1" i="0" sz="2400" u="none" cap="none" strike="noStrike">
              <a:solidFill>
                <a:schemeClr val="dk1"/>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a:bodyPr>
          <a:lstStyle/>
          <a:p>
            <a:pPr indent="0" lvl="0" marL="0" rtl="1" algn="r">
              <a:spcBef>
                <a:spcPts val="0"/>
              </a:spcBef>
              <a:spcAft>
                <a:spcPts val="0"/>
              </a:spcAft>
              <a:buSzPts val="1600"/>
              <a:buNone/>
            </a:pPr>
            <a:r>
              <a:rPr lang="en" sz="2400">
                <a:solidFill>
                  <a:schemeClr val="dk2"/>
                </a:solidFill>
              </a:rPr>
              <a:t>الرئيسية</a:t>
            </a:r>
            <a:endParaRPr sz="3600"/>
          </a:p>
        </p:txBody>
      </p:sp>
      <p:sp>
        <p:nvSpPr>
          <p:cNvPr id="76" name="Google Shape;76;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SzPts val="1100"/>
              <a:buNone/>
            </a:pPr>
            <a:r>
              <a:rPr lang="en" sz="1700">
                <a:solidFill>
                  <a:schemeClr val="dk1"/>
                </a:solidFill>
                <a:latin typeface="Times New Roman"/>
                <a:ea typeface="Times New Roman"/>
                <a:cs typeface="Times New Roman"/>
                <a:sym typeface="Times New Roman"/>
              </a:rPr>
              <a:t>على ضفاف النيل، وفي قلب أرض الكنانة، تمتد جذور الجامعة البهائية لأكثر من مائةٍ وثمانين عامًا. فقد كانت مصر، على مرّ العصور، في طليعة البلدان التي احتضنت رسالات الله، وتهيّأت لتلقّي نورها، ومن ثمّ احتضنت هذه الدعوة العالمية.</a:t>
            </a:r>
            <a:endParaRPr sz="1700">
              <a:solidFill>
                <a:schemeClr val="dk1"/>
              </a:solidFill>
              <a:latin typeface="Times New Roman"/>
              <a:ea typeface="Times New Roman"/>
              <a:cs typeface="Times New Roman"/>
              <a:sym typeface="Times New Roman"/>
            </a:endParaRPr>
          </a:p>
          <a:p>
            <a:pPr indent="0" lvl="0" marL="0" rtl="1" algn="r">
              <a:lnSpc>
                <a:spcPct val="115000"/>
              </a:lnSpc>
              <a:spcBef>
                <a:spcPts val="1000"/>
              </a:spcBef>
              <a:spcAft>
                <a:spcPts val="0"/>
              </a:spcAft>
              <a:buSzPts val="1100"/>
              <a:buNone/>
            </a:pPr>
            <a:r>
              <a:rPr lang="en" sz="1700">
                <a:solidFill>
                  <a:schemeClr val="dk1"/>
                </a:solidFill>
                <a:latin typeface="Times New Roman"/>
                <a:ea typeface="Times New Roman"/>
                <a:cs typeface="Times New Roman"/>
                <a:sym typeface="Times New Roman"/>
              </a:rPr>
              <a:t>فمنذ عام 1863م، لم تكن أرض مصر مجرّد محطة عبور، بل كانت منارةً فكرية تشعّ علمًا وثقافةً إلى محيطها، ساعدها في ذلك موقعها الجغرافي المتميز، وتربتها الخصبة التي منحت الأمان والاستقرار لكل من قصدها ونهل من نيلها.</a:t>
            </a:r>
            <a:endParaRPr sz="1700">
              <a:solidFill>
                <a:schemeClr val="dk1"/>
              </a:solidFill>
              <a:latin typeface="Times New Roman"/>
              <a:ea typeface="Times New Roman"/>
              <a:cs typeface="Times New Roman"/>
              <a:sym typeface="Times New Roman"/>
            </a:endParaRPr>
          </a:p>
          <a:p>
            <a:pPr indent="0" lvl="0" marL="0" rtl="1" algn="r">
              <a:lnSpc>
                <a:spcPct val="115000"/>
              </a:lnSpc>
              <a:spcBef>
                <a:spcPts val="1000"/>
              </a:spcBef>
              <a:spcAft>
                <a:spcPts val="0"/>
              </a:spcAft>
              <a:buSzPts val="1100"/>
              <a:buNone/>
            </a:pPr>
            <a:r>
              <a:rPr lang="en" sz="1700">
                <a:solidFill>
                  <a:schemeClr val="dk1"/>
                </a:solidFill>
                <a:latin typeface="Times New Roman"/>
                <a:ea typeface="Times New Roman"/>
                <a:cs typeface="Times New Roman"/>
                <a:sym typeface="Times New Roman"/>
              </a:rPr>
              <a:t>يهدف هذا الموقع إلى تعريف زوّاره بالدين البهائي، ومبادئه وتعاليمه، وإبراز مساهمات ومبادرات البهائيين في بناء مصر الحبيبة، لما فيه خير ورخاء الجميع.</a:t>
            </a:r>
            <a:endParaRPr sz="1700">
              <a:solidFill>
                <a:schemeClr val="dk1"/>
              </a:solidFill>
              <a:latin typeface="Times New Roman"/>
              <a:ea typeface="Times New Roman"/>
              <a:cs typeface="Times New Roman"/>
              <a:sym typeface="Times New Roman"/>
            </a:endParaRPr>
          </a:p>
          <a:p>
            <a:pPr indent="0" lvl="0" marL="0" rtl="1" algn="r">
              <a:lnSpc>
                <a:spcPct val="115000"/>
              </a:lnSpc>
              <a:spcBef>
                <a:spcPts val="1000"/>
              </a:spcBef>
              <a:spcAft>
                <a:spcPts val="1000"/>
              </a:spcAft>
              <a:buClr>
                <a:schemeClr val="dk1"/>
              </a:buClr>
              <a:buSzPts val="1100"/>
              <a:buFont typeface="Arial"/>
              <a:buNone/>
            </a:pPr>
            <a:r>
              <a:rPr lang="en" sz="1700">
                <a:solidFill>
                  <a:schemeClr val="dk1"/>
                </a:solidFill>
                <a:latin typeface="Times New Roman"/>
                <a:ea typeface="Times New Roman"/>
                <a:cs typeface="Times New Roman"/>
                <a:sym typeface="Times New Roman"/>
              </a:rPr>
              <a:t>ويسعى البهائيون، استلهامًا من تعاليمهم، إلى الإسهام في بناء حضارة إنسانية مزدهرة، شعارها وحدة الجنس البشري، وروحها المحبة، وغايتها خدمة مصر والإنسانية جمعاء؛ مستلهمين من تاريخهم في هذه الأرض الطيبة رؤيةً لمستقبل يسوده التعايش والوحدة والسلام.</a:t>
            </a:r>
            <a:endParaRPr sz="1700">
              <a:solidFill>
                <a:schemeClr val="dk1"/>
              </a:solidFill>
              <a:latin typeface="Times New Roman"/>
              <a:ea typeface="Times New Roman"/>
              <a:cs typeface="Times New Roman"/>
              <a:sym typeface="Times New Roman"/>
            </a:endParaRPr>
          </a:p>
        </p:txBody>
      </p:sp>
      <p:cxnSp>
        <p:nvCxnSpPr>
          <p:cNvPr id="77" name="Google Shape;77;p15"/>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98275" y="2488550"/>
            <a:ext cx="8520600" cy="572700"/>
          </a:xfrm>
          <a:prstGeom prst="rect">
            <a:avLst/>
          </a:prstGeom>
        </p:spPr>
        <p:txBody>
          <a:bodyPr anchorCtr="0" anchor="t" bIns="91425" lIns="91425" spcFirstLastPara="1" rIns="91425" wrap="square" tIns="91425">
            <a:noAutofit/>
          </a:bodyPr>
          <a:lstStyle/>
          <a:p>
            <a:pPr indent="0" lvl="0" marL="0" rtl="1" algn="ctr">
              <a:lnSpc>
                <a:spcPct val="115000"/>
              </a:lnSpc>
              <a:spcBef>
                <a:spcPts val="2400"/>
              </a:spcBef>
              <a:spcAft>
                <a:spcPts val="0"/>
              </a:spcAft>
              <a:buNone/>
            </a:pPr>
            <a:r>
              <a:rPr b="1" lang="en" sz="4000">
                <a:solidFill>
                  <a:srgbClr val="366091"/>
                </a:solidFill>
                <a:latin typeface="Calibri"/>
                <a:ea typeface="Calibri"/>
                <a:cs typeface="Calibri"/>
                <a:sym typeface="Calibri"/>
              </a:rPr>
              <a:t>البهائيون في مصر:</a:t>
            </a:r>
            <a:endParaRPr b="1" sz="7600">
              <a:solidFill>
                <a:srgbClr val="36609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nvSpPr>
        <p:spPr>
          <a:xfrm>
            <a:off x="664925" y="781450"/>
            <a:ext cx="7773900" cy="3816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Arial"/>
                <a:ea typeface="Arial"/>
                <a:cs typeface="Arial"/>
                <a:sym typeface="Arial"/>
              </a:rPr>
              <a:t>يَا أَبْناءَ الإِنْسانِ</a:t>
            </a:r>
            <a:endParaRPr b="1" i="0" sz="2400" u="none" cap="none" strike="noStrike">
              <a:solidFill>
                <a:schemeClr val="dk1"/>
              </a:solidFill>
              <a:latin typeface="Arial"/>
              <a:ea typeface="Arial"/>
              <a:cs typeface="Arial"/>
              <a:sym typeface="Arial"/>
            </a:endParaRPr>
          </a:p>
          <a:p>
            <a:pPr indent="0" lvl="0" marL="0" marR="0" rtl="0" algn="ctr">
              <a:lnSpc>
                <a:spcPct val="115000"/>
              </a:lnSpc>
              <a:spcBef>
                <a:spcPts val="1200"/>
              </a:spcBef>
              <a:spcAft>
                <a:spcPts val="0"/>
              </a:spcAft>
              <a:buClr>
                <a:srgbClr val="000000"/>
              </a:buClr>
              <a:buSzPts val="2400"/>
              <a:buFont typeface="Arial"/>
              <a:buNone/>
            </a:pPr>
            <a:r>
              <a:rPr b="1" i="0" lang="en" sz="2400" u="none" cap="none" strike="noStrike">
                <a:solidFill>
                  <a:schemeClr val="dk1"/>
                </a:solidFill>
                <a:latin typeface="Arial"/>
                <a:ea typeface="Arial"/>
                <a:cs typeface="Arial"/>
                <a:sym typeface="Arial"/>
              </a:rPr>
              <a:t>هَلْ عَرَفْتُمْ لِمَ خَلَقْناكُمْ مِنْ تُرابٍ واحِدٍ؛ لِئَلاَّ يَفْتَخِرَ أَحَدٌ عَلى أَحَدٍ. وَتَفَكَّرُوا فِي كُلِّ حِينٍ فِي خَلْقِ أَنْفُسِكُم؛ إِذاً يَنْبَغِي كَما خَلَقْناكُم مِنْ شَيْءٍ واحِدٍ أَنْ تَكُونُوا كَنَفْسٍ واحِدَةٍ، بِحَيْثُ تَمْشُونَ عَلى رِجْلٍ واحِدَةٍ، وَتَأْكُلُونَ مِنْ فَمٍ واحِدٍ، وَتَسْكُنُونَ فِي أَرْضٍ واحِدَةٍ؛ حَتَّى تَظْهَرَ مِنْ كَيْنُوناتِكُمْ وَأَعْمالِكُمْ وَأَفْعالِكُمْ آياتُ التَّوْحِيدِ وَجَواهِرُ التَّجْرِيدِ. هذا نُصْحِي عَلَيْكُم يا مَلأَ الأَنْوارِ، فَانْتَصِحُوا مِنْهُ لِتَجِدُوا ثَمَراتِ القُدْسِ مِنْ شَجَرِ عِزٍّ مَنيعٍ.</a:t>
            </a:r>
            <a:endParaRPr b="1" i="0" sz="2400" u="none" cap="none" strike="noStrike">
              <a:solidFill>
                <a:schemeClr val="dk1"/>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2400"/>
              <a:buFont typeface="Arial"/>
              <a:buNone/>
            </a:pPr>
            <a:r>
              <a:t/>
            </a:r>
            <a:endParaRPr b="1" i="0" sz="24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a:bodyPr>
          <a:lstStyle/>
          <a:p>
            <a:pPr indent="0" lvl="0" marL="0" rtl="1" algn="r">
              <a:lnSpc>
                <a:spcPct val="115000"/>
              </a:lnSpc>
              <a:spcBef>
                <a:spcPts val="2400"/>
              </a:spcBef>
              <a:spcAft>
                <a:spcPts val="0"/>
              </a:spcAft>
              <a:buSzPts val="1100"/>
              <a:buNone/>
            </a:pPr>
            <a:r>
              <a:rPr b="1" lang="en" sz="2100">
                <a:solidFill>
                  <a:srgbClr val="366091"/>
                </a:solidFill>
                <a:latin typeface="Calibri"/>
                <a:ea typeface="Calibri"/>
                <a:cs typeface="Calibri"/>
                <a:sym typeface="Calibri"/>
              </a:rPr>
              <a:t>البهائيون في مصر:</a:t>
            </a:r>
            <a:endParaRPr sz="3500"/>
          </a:p>
        </p:txBody>
      </p:sp>
      <p:sp>
        <p:nvSpPr>
          <p:cNvPr id="93" name="Google Shape;93;p18"/>
          <p:cNvSpPr txBox="1"/>
          <p:nvPr>
            <p:ph idx="1" type="body"/>
          </p:nvPr>
        </p:nvSpPr>
        <p:spPr>
          <a:xfrm>
            <a:off x="163540" y="863700"/>
            <a:ext cx="8854200" cy="42798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Clr>
                <a:schemeClr val="dk1"/>
              </a:buClr>
              <a:buSzPts val="1100"/>
              <a:buFont typeface="Arial"/>
              <a:buNone/>
            </a:pPr>
            <a:r>
              <a:rPr lang="en" sz="2400">
                <a:solidFill>
                  <a:schemeClr val="dk1"/>
                </a:solidFill>
                <a:latin typeface="Cambria"/>
                <a:ea typeface="Cambria"/>
                <a:cs typeface="Cambria"/>
                <a:sym typeface="Cambria"/>
              </a:rPr>
              <a:t>البهائيون المصريين  جزء من نسيج المجتمع المصري ويعمل أفراده، بروح من المسؤولية والمواطنة، على الإسهام في تقدم المجتمع، من خلال المشاركة في مبادرات تربوية واجتماعية تهدف إلى تعزيز التماسك الاجتماعي وترسيخ قيم التعاون والاحترام المتبادل.</a:t>
            </a:r>
            <a:endParaRPr sz="2400">
              <a:solidFill>
                <a:schemeClr val="dk1"/>
              </a:solidFill>
              <a:latin typeface="Cambria"/>
              <a:ea typeface="Cambria"/>
              <a:cs typeface="Cambria"/>
              <a:sym typeface="Cambria"/>
            </a:endParaRPr>
          </a:p>
          <a:p>
            <a:pPr indent="0" lvl="0" marL="0" rtl="1" algn="r">
              <a:lnSpc>
                <a:spcPct val="115000"/>
              </a:lnSpc>
              <a:spcBef>
                <a:spcPts val="1000"/>
              </a:spcBef>
              <a:spcAft>
                <a:spcPts val="1000"/>
              </a:spcAft>
              <a:buSzPts val="1100"/>
              <a:buNone/>
            </a:pPr>
            <a:r>
              <a:rPr lang="en" sz="2400">
                <a:solidFill>
                  <a:schemeClr val="dk1"/>
                </a:solidFill>
                <a:latin typeface="Cambria"/>
                <a:ea typeface="Cambria"/>
                <a:cs typeface="Cambria"/>
                <a:sym typeface="Cambria"/>
              </a:rPr>
              <a:t>ويؤمن البهائيون بأن لكل فرد دورًا في بناء مجتمعه، وأن التقدم الحقيقي يتحقق عندما تتكامل الجهود الفردية والجماعية في خدمة الصالح العام.</a:t>
            </a:r>
            <a:endParaRPr sz="2900">
              <a:solidFill>
                <a:srgbClr val="0F0F0F"/>
              </a:solidFill>
            </a:endParaRPr>
          </a:p>
        </p:txBody>
      </p:sp>
      <p:cxnSp>
        <p:nvCxnSpPr>
          <p:cNvPr id="94" name="Google Shape;94;p18"/>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98275" y="2488550"/>
            <a:ext cx="8520600" cy="572700"/>
          </a:xfrm>
          <a:prstGeom prst="rect">
            <a:avLst/>
          </a:prstGeom>
        </p:spPr>
        <p:txBody>
          <a:bodyPr anchorCtr="0" anchor="t" bIns="91425" lIns="91425" spcFirstLastPara="1" rIns="91425" wrap="square" tIns="91425">
            <a:noAutofit/>
          </a:bodyPr>
          <a:lstStyle/>
          <a:p>
            <a:pPr indent="0" lvl="0" marL="0" rtl="1" algn="ctr">
              <a:lnSpc>
                <a:spcPct val="115000"/>
              </a:lnSpc>
              <a:spcBef>
                <a:spcPts val="2400"/>
              </a:spcBef>
              <a:spcAft>
                <a:spcPts val="0"/>
              </a:spcAft>
              <a:buNone/>
            </a:pPr>
            <a:r>
              <a:rPr b="1" lang="en" sz="4000">
                <a:solidFill>
                  <a:srgbClr val="366091"/>
                </a:solidFill>
                <a:latin typeface="Calibri"/>
                <a:ea typeface="Calibri"/>
                <a:cs typeface="Calibri"/>
                <a:sym typeface="Calibri"/>
              </a:rPr>
              <a:t>ما يؤمنون به </a:t>
            </a:r>
            <a:endParaRPr b="1" sz="4000">
              <a:solidFill>
                <a:srgbClr val="366091"/>
              </a:solidFill>
              <a:latin typeface="Calibri"/>
              <a:ea typeface="Calibri"/>
              <a:cs typeface="Calibri"/>
              <a:sym typeface="Calibri"/>
            </a:endParaRPr>
          </a:p>
          <a:p>
            <a:pPr indent="0" lvl="0" marL="0" rtl="1" algn="r">
              <a:lnSpc>
                <a:spcPct val="115000"/>
              </a:lnSpc>
              <a:spcBef>
                <a:spcPts val="2400"/>
              </a:spcBef>
              <a:spcAft>
                <a:spcPts val="0"/>
              </a:spcAft>
              <a:buNone/>
            </a:pPr>
            <a:r>
              <a:t/>
            </a:r>
            <a:endParaRPr b="1" sz="4000">
              <a:solidFill>
                <a:srgbClr val="36609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nvSpPr>
        <p:spPr>
          <a:xfrm>
            <a:off x="664925" y="781450"/>
            <a:ext cx="7773900" cy="3816300"/>
          </a:xfrm>
          <a:prstGeom prst="rect">
            <a:avLst/>
          </a:prstGeom>
          <a:noFill/>
          <a:ln>
            <a:noFill/>
          </a:ln>
        </p:spPr>
        <p:txBody>
          <a:bodyPr anchorCtr="0" anchor="ctr" bIns="91425" lIns="91425" spcFirstLastPara="1" rIns="91425" wrap="square" tIns="91425">
            <a:noAutofit/>
          </a:bodyPr>
          <a:lstStyle/>
          <a:p>
            <a:pPr indent="0" lvl="0" marL="0" rtl="1" algn="ctr">
              <a:lnSpc>
                <a:spcPct val="115000"/>
              </a:lnSpc>
              <a:spcBef>
                <a:spcPts val="1200"/>
              </a:spcBef>
              <a:spcAft>
                <a:spcPts val="0"/>
              </a:spcAft>
              <a:buClr>
                <a:schemeClr val="dk1"/>
              </a:buClr>
              <a:buSzPts val="1100"/>
              <a:buFont typeface="Arial"/>
              <a:buNone/>
            </a:pPr>
            <a:r>
              <a:rPr b="1" lang="en" sz="3400">
                <a:solidFill>
                  <a:schemeClr val="dk2"/>
                </a:solidFill>
              </a:rPr>
              <a:t>يَا ابْنَ الإِنْسانِ</a:t>
            </a:r>
            <a:endParaRPr b="1" sz="3400">
              <a:solidFill>
                <a:schemeClr val="dk2"/>
              </a:solidFill>
            </a:endParaRPr>
          </a:p>
          <a:p>
            <a:pPr indent="0" lvl="0" marL="0" rtl="1" algn="ctr">
              <a:lnSpc>
                <a:spcPct val="115000"/>
              </a:lnSpc>
              <a:spcBef>
                <a:spcPts val="1200"/>
              </a:spcBef>
              <a:spcAft>
                <a:spcPts val="0"/>
              </a:spcAft>
              <a:buClr>
                <a:schemeClr val="dk1"/>
              </a:buClr>
              <a:buSzPts val="1100"/>
              <a:buFont typeface="Arial"/>
              <a:buNone/>
            </a:pPr>
            <a:r>
              <a:rPr b="1" lang="en" sz="3400">
                <a:solidFill>
                  <a:schemeClr val="dk2"/>
                </a:solidFill>
              </a:rPr>
              <a:t>  أَحْبَبْتُ خَلْقَكَ فَخَلَقْتُكَ، فَأَحْبِبْني كَيْ أَذْكُرَكَ، وَفِي رُوحِ الْحَياةِ أُثَبِّتُكَ.</a:t>
            </a:r>
            <a:endParaRPr b="1" sz="3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a:bodyPr>
          <a:lstStyle/>
          <a:p>
            <a:pPr indent="0" lvl="0" marL="0" rtl="1" algn="r">
              <a:lnSpc>
                <a:spcPct val="115000"/>
              </a:lnSpc>
              <a:spcBef>
                <a:spcPts val="2400"/>
              </a:spcBef>
              <a:spcAft>
                <a:spcPts val="0"/>
              </a:spcAft>
              <a:buSzPts val="1100"/>
              <a:buNone/>
            </a:pPr>
            <a:r>
              <a:rPr b="1" lang="en" sz="2100">
                <a:solidFill>
                  <a:srgbClr val="366091"/>
                </a:solidFill>
                <a:latin typeface="Calibri"/>
                <a:ea typeface="Calibri"/>
                <a:cs typeface="Calibri"/>
                <a:sym typeface="Calibri"/>
              </a:rPr>
              <a:t>ما يؤمن به البهائيون </a:t>
            </a:r>
            <a:endParaRPr b="1" sz="3600">
              <a:solidFill>
                <a:srgbClr val="366091"/>
              </a:solidFill>
              <a:latin typeface="Calibri"/>
              <a:ea typeface="Calibri"/>
              <a:cs typeface="Calibri"/>
              <a:sym typeface="Calibri"/>
            </a:endParaRPr>
          </a:p>
        </p:txBody>
      </p:sp>
      <p:sp>
        <p:nvSpPr>
          <p:cNvPr id="110" name="Google Shape;110;p21"/>
          <p:cNvSpPr txBox="1"/>
          <p:nvPr>
            <p:ph idx="1" type="body"/>
          </p:nvPr>
        </p:nvSpPr>
        <p:spPr>
          <a:xfrm>
            <a:off x="163540" y="863700"/>
            <a:ext cx="8854200" cy="42798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SzPts val="1100"/>
              <a:buNone/>
            </a:pPr>
            <a:r>
              <a:rPr lang="en" sz="2200">
                <a:solidFill>
                  <a:schemeClr val="dk1"/>
                </a:solidFill>
                <a:latin typeface="Times New Roman"/>
                <a:ea typeface="Times New Roman"/>
                <a:cs typeface="Times New Roman"/>
                <a:sym typeface="Times New Roman"/>
              </a:rPr>
              <a:t>إن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الأرض</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وطن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واحد</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والبشر</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سكانه</a:t>
            </a:r>
            <a:endParaRPr sz="22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rPr lang="en" sz="2200">
                <a:solidFill>
                  <a:schemeClr val="dk1"/>
                </a:solidFill>
                <a:latin typeface="Times New Roman"/>
                <a:ea typeface="Times New Roman"/>
                <a:cs typeface="Times New Roman"/>
                <a:sym typeface="Times New Roman"/>
              </a:rPr>
              <a:t>الديانة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البهائية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دين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عالمي</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مستقل</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يقوم</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على</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الإيمان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بوحدة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الله،</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ووحدة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الأديان،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ووحدة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الجنس</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البشري</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وترى</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تعاليمها</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أن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الرسالات</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الإلهية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تمثل</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مراحل</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متتابعة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لهداية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البشرية</a:t>
            </a:r>
            <a:r>
              <a:rPr lang="en" sz="2200">
                <a:solidFill>
                  <a:schemeClr val="dk1"/>
                </a:solidFill>
                <a:latin typeface="Cambria"/>
                <a:ea typeface="Cambria"/>
                <a:cs typeface="Cambria"/>
                <a:sym typeface="Cambria"/>
              </a:rPr>
              <a:t>.</a:t>
            </a:r>
            <a:endParaRPr sz="22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rPr lang="en" sz="2200">
                <a:solidFill>
                  <a:schemeClr val="dk1"/>
                </a:solidFill>
                <a:latin typeface="Times New Roman"/>
                <a:ea typeface="Times New Roman"/>
                <a:cs typeface="Times New Roman"/>
                <a:sym typeface="Times New Roman"/>
              </a:rPr>
              <a:t>وقد</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جاء</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حضرة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بهاء</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الله</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برسالة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تدعو</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إلى</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تحقيق</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السلام</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العالمي،</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وإرساء</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العدل،</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وبناء</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مجتمع</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يسوده</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التعاون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والتكافل</a:t>
            </a:r>
            <a:r>
              <a:rPr lang="en" sz="2200">
                <a:solidFill>
                  <a:schemeClr val="dk1"/>
                </a:solidFill>
                <a:latin typeface="Cambria"/>
                <a:ea typeface="Cambria"/>
                <a:cs typeface="Cambria"/>
                <a:sym typeface="Cambria"/>
              </a:rPr>
              <a:t>.</a:t>
            </a:r>
            <a:endParaRPr sz="2200">
              <a:solidFill>
                <a:schemeClr val="dk1"/>
              </a:solidFill>
              <a:latin typeface="Cambria"/>
              <a:ea typeface="Cambria"/>
              <a:cs typeface="Cambria"/>
              <a:sym typeface="Cambria"/>
            </a:endParaRPr>
          </a:p>
          <a:p>
            <a:pPr indent="0" lvl="0" marL="0" rtl="1" algn="r">
              <a:lnSpc>
                <a:spcPct val="115000"/>
              </a:lnSpc>
              <a:spcBef>
                <a:spcPts val="1000"/>
              </a:spcBef>
              <a:spcAft>
                <a:spcPts val="1000"/>
              </a:spcAft>
              <a:buSzPts val="1100"/>
              <a:buNone/>
            </a:pPr>
            <a:r>
              <a:rPr lang="en" sz="2200">
                <a:solidFill>
                  <a:schemeClr val="dk1"/>
                </a:solidFill>
                <a:latin typeface="Times New Roman"/>
                <a:ea typeface="Times New Roman"/>
                <a:cs typeface="Times New Roman"/>
                <a:sym typeface="Times New Roman"/>
              </a:rPr>
              <a:t>وتؤكد</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التعاليم</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البهائية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على</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أهمية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التوافق</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بين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العلم</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والدين،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والمساواة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بين</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المرأة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والرجل،</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وضرورة</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القضاء</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على</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جميع</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أشكال</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التعصب،</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باعتبارها</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أسسًا</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لبناء</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عالم</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أكثر</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استقرارًا</a:t>
            </a:r>
            <a:r>
              <a:rPr lang="en" sz="2200">
                <a:solidFill>
                  <a:schemeClr val="dk1"/>
                </a:solidFill>
                <a:latin typeface="Cambria"/>
                <a:ea typeface="Cambria"/>
                <a:cs typeface="Cambria"/>
                <a:sym typeface="Cambria"/>
              </a:rPr>
              <a:t> </a:t>
            </a:r>
            <a:r>
              <a:rPr lang="en" sz="2200">
                <a:solidFill>
                  <a:schemeClr val="dk1"/>
                </a:solidFill>
                <a:latin typeface="Times New Roman"/>
                <a:ea typeface="Times New Roman"/>
                <a:cs typeface="Times New Roman"/>
                <a:sym typeface="Times New Roman"/>
              </a:rPr>
              <a:t>وازدهارًا</a:t>
            </a:r>
            <a:r>
              <a:rPr lang="en" sz="2200">
                <a:solidFill>
                  <a:schemeClr val="dk1"/>
                </a:solidFill>
                <a:latin typeface="Cambria"/>
                <a:ea typeface="Cambria"/>
                <a:cs typeface="Cambria"/>
                <a:sym typeface="Cambria"/>
              </a:rPr>
              <a:t>.</a:t>
            </a:r>
            <a:endParaRPr sz="3500">
              <a:solidFill>
                <a:schemeClr val="dk1"/>
              </a:solidFill>
              <a:latin typeface="Cambria"/>
              <a:ea typeface="Cambria"/>
              <a:cs typeface="Cambria"/>
              <a:sym typeface="Cambria"/>
            </a:endParaRPr>
          </a:p>
        </p:txBody>
      </p:sp>
      <p:cxnSp>
        <p:nvCxnSpPr>
          <p:cNvPr id="111" name="Google Shape;111;p21"/>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98275" y="2488550"/>
            <a:ext cx="8520600" cy="572700"/>
          </a:xfrm>
          <a:prstGeom prst="rect">
            <a:avLst/>
          </a:prstGeom>
        </p:spPr>
        <p:txBody>
          <a:bodyPr anchorCtr="0" anchor="t" bIns="91425" lIns="91425" spcFirstLastPara="1" rIns="91425" wrap="square" tIns="91425">
            <a:noAutofit/>
          </a:bodyPr>
          <a:lstStyle/>
          <a:p>
            <a:pPr indent="0" lvl="0" marL="0" rtl="1" algn="ctr">
              <a:lnSpc>
                <a:spcPct val="115000"/>
              </a:lnSpc>
              <a:spcBef>
                <a:spcPts val="2400"/>
              </a:spcBef>
              <a:spcAft>
                <a:spcPts val="0"/>
              </a:spcAft>
              <a:buNone/>
            </a:pPr>
            <a:r>
              <a:rPr b="1" lang="en" sz="7600">
                <a:solidFill>
                  <a:srgbClr val="366091"/>
                </a:solidFill>
                <a:latin typeface="Calibri"/>
                <a:ea typeface="Calibri"/>
                <a:cs typeface="Calibri"/>
                <a:sym typeface="Calibri"/>
              </a:rPr>
              <a:t>مساهماتهم</a:t>
            </a:r>
            <a:endParaRPr b="1" sz="7600">
              <a:solidFill>
                <a:srgbClr val="36609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nvSpPr>
        <p:spPr>
          <a:xfrm>
            <a:off x="664925" y="781450"/>
            <a:ext cx="7773900" cy="3816300"/>
          </a:xfrm>
          <a:prstGeom prst="rect">
            <a:avLst/>
          </a:prstGeom>
          <a:noFill/>
          <a:ln>
            <a:noFill/>
          </a:ln>
        </p:spPr>
        <p:txBody>
          <a:bodyPr anchorCtr="0" anchor="ctr" bIns="91425" lIns="91425" spcFirstLastPara="1" rIns="91425" wrap="square" tIns="91425">
            <a:noAutofit/>
          </a:bodyPr>
          <a:lstStyle/>
          <a:p>
            <a:pPr indent="0" lvl="0" marL="0" marR="0" rtl="1" algn="ctr">
              <a:lnSpc>
                <a:spcPct val="115000"/>
              </a:lnSpc>
              <a:spcBef>
                <a:spcPts val="1200"/>
              </a:spcBef>
              <a:spcAft>
                <a:spcPts val="0"/>
              </a:spcAft>
              <a:buClr>
                <a:schemeClr val="dk1"/>
              </a:buClr>
              <a:buSzPts val="1100"/>
              <a:buFont typeface="Arial"/>
              <a:buNone/>
            </a:pPr>
            <a:r>
              <a:rPr b="1" i="0" lang="en" sz="2400" u="none" cap="none" strike="noStrike">
                <a:solidFill>
                  <a:schemeClr val="dk1"/>
                </a:solidFill>
                <a:latin typeface="Arial"/>
                <a:ea typeface="Arial"/>
                <a:cs typeface="Arial"/>
                <a:sym typeface="Arial"/>
              </a:rPr>
              <a:t>يَا ابْنَ الرُّوحِ</a:t>
            </a:r>
            <a:endParaRPr b="1" i="0" sz="2400" u="none" cap="none" strike="noStrike">
              <a:solidFill>
                <a:schemeClr val="dk1"/>
              </a:solidFill>
              <a:latin typeface="Arial"/>
              <a:ea typeface="Arial"/>
              <a:cs typeface="Arial"/>
              <a:sym typeface="Arial"/>
            </a:endParaRPr>
          </a:p>
          <a:p>
            <a:pPr indent="0" lvl="0" marL="0" marR="0" rtl="1" algn="ctr">
              <a:lnSpc>
                <a:spcPct val="115000"/>
              </a:lnSpc>
              <a:spcBef>
                <a:spcPts val="1200"/>
              </a:spcBef>
              <a:spcAft>
                <a:spcPts val="1200"/>
              </a:spcAft>
              <a:buClr>
                <a:schemeClr val="dk1"/>
              </a:buClr>
              <a:buSzPts val="1100"/>
              <a:buFont typeface="Arial"/>
              <a:buNone/>
            </a:pPr>
            <a:r>
              <a:rPr b="1" i="0" lang="en" sz="2400" u="none" cap="none" strike="noStrike">
                <a:solidFill>
                  <a:schemeClr val="dk1"/>
                </a:solidFill>
                <a:latin typeface="Arial"/>
                <a:ea typeface="Arial"/>
                <a:cs typeface="Arial"/>
                <a:sym typeface="Arial"/>
              </a:rPr>
              <a:t>  فِي أَوَّلِ القَوْلِ امْلِكْ قَلْباً جَيِّداً حَسَناً مُنيراً لِتَمْلِكَ مُلْكاً دائِماً باقِياً أَزَلاً قَدِيماً.</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a:bodyPr>
          <a:lstStyle/>
          <a:p>
            <a:pPr indent="0" lvl="0" marL="0" rtl="1" algn="r">
              <a:lnSpc>
                <a:spcPct val="115000"/>
              </a:lnSpc>
              <a:spcBef>
                <a:spcPts val="2400"/>
              </a:spcBef>
              <a:spcAft>
                <a:spcPts val="0"/>
              </a:spcAft>
              <a:buSzPts val="1100"/>
              <a:buNone/>
            </a:pPr>
            <a:r>
              <a:rPr b="1" lang="en" sz="2200">
                <a:solidFill>
                  <a:srgbClr val="366091"/>
                </a:solidFill>
                <a:latin typeface="Calibri"/>
                <a:ea typeface="Calibri"/>
                <a:cs typeface="Calibri"/>
                <a:sym typeface="Calibri"/>
              </a:rPr>
              <a:t>مساهماتنا</a:t>
            </a:r>
            <a:endParaRPr b="1" sz="3900">
              <a:solidFill>
                <a:srgbClr val="366091"/>
              </a:solidFill>
              <a:latin typeface="Calibri"/>
              <a:ea typeface="Calibri"/>
              <a:cs typeface="Calibri"/>
              <a:sym typeface="Calibri"/>
            </a:endParaRPr>
          </a:p>
        </p:txBody>
      </p:sp>
      <p:sp>
        <p:nvSpPr>
          <p:cNvPr id="127" name="Google Shape;127;p24"/>
          <p:cNvSpPr txBox="1"/>
          <p:nvPr>
            <p:ph idx="1" type="body"/>
          </p:nvPr>
        </p:nvSpPr>
        <p:spPr>
          <a:xfrm>
            <a:off x="163540" y="863700"/>
            <a:ext cx="8854200" cy="42798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SzPts val="1100"/>
              <a:buNone/>
            </a:pPr>
            <a:r>
              <a:rPr lang="en" sz="2200">
                <a:solidFill>
                  <a:schemeClr val="dk1"/>
                </a:solidFill>
                <a:latin typeface="Cambria"/>
                <a:ea typeface="Cambria"/>
                <a:cs typeface="Cambria"/>
                <a:sym typeface="Cambria"/>
              </a:rPr>
              <a:t>العمل في سبيل خير العالم</a:t>
            </a:r>
            <a:endParaRPr sz="22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rPr b="1" lang="en" sz="2200">
                <a:solidFill>
                  <a:schemeClr val="dk1"/>
                </a:solidFill>
                <a:latin typeface="Cambria"/>
                <a:ea typeface="Cambria"/>
                <a:cs typeface="Cambria"/>
                <a:sym typeface="Cambria"/>
              </a:rPr>
              <a:t>قل أن اتحدوا في كلمتكم واتفقوا فى رأيكم واجعلوا إشراقكم أفضل من عشيكم وغدكم أحسن من أمسكم. فضل الإنسان فى الخدمة والكمال لا في الزينة والثروة والمال" حضرة بهاء الله</a:t>
            </a:r>
            <a:endParaRPr sz="22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rPr lang="en" sz="2200">
                <a:solidFill>
                  <a:schemeClr val="dk1"/>
                </a:solidFill>
                <a:latin typeface="Cambria"/>
                <a:ea typeface="Cambria"/>
                <a:cs typeface="Cambria"/>
                <a:sym typeface="Cambria"/>
              </a:rPr>
              <a:t>يساهم البهائيون في مصر في مجموعة من الأنشطة التي تهدف إلى تنمية القدرات الروحية والفكرية للأفراد، وتعزيز روح الخدمة والمسؤولية تجاه المجتمع.</a:t>
            </a:r>
            <a:endParaRPr sz="22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rPr lang="en" sz="2200">
                <a:solidFill>
                  <a:schemeClr val="dk1"/>
                </a:solidFill>
                <a:latin typeface="Cambria"/>
                <a:ea typeface="Cambria"/>
                <a:cs typeface="Cambria"/>
                <a:sym typeface="Cambria"/>
              </a:rPr>
              <a:t>تشمل هذه الجهود برامج للأطفال تهدف إلى غرس القيم الأخلاقية، وبرامج لليافعين تساعدهم على تطوير قدراتهم واكتشاف دورهم في المجتمع، إضافة إلى أنشطة للشباب والبالغين تركز على التعلم الجماعي والعمل المشترك.</a:t>
            </a:r>
            <a:endParaRPr sz="2200">
              <a:solidFill>
                <a:schemeClr val="dk1"/>
              </a:solidFill>
              <a:latin typeface="Cambria"/>
              <a:ea typeface="Cambria"/>
              <a:cs typeface="Cambria"/>
              <a:sym typeface="Cambria"/>
            </a:endParaRPr>
          </a:p>
          <a:p>
            <a:pPr indent="0" lvl="0" marL="0" rtl="1" algn="r">
              <a:lnSpc>
                <a:spcPct val="115000"/>
              </a:lnSpc>
              <a:spcBef>
                <a:spcPts val="1000"/>
              </a:spcBef>
              <a:spcAft>
                <a:spcPts val="1000"/>
              </a:spcAft>
              <a:buSzPts val="1100"/>
              <a:buNone/>
            </a:pPr>
            <a:r>
              <a:rPr lang="en" sz="2200">
                <a:solidFill>
                  <a:schemeClr val="dk1"/>
                </a:solidFill>
                <a:latin typeface="Cambria"/>
                <a:ea typeface="Cambria"/>
                <a:cs typeface="Cambria"/>
                <a:sym typeface="Cambria"/>
              </a:rPr>
              <a:t>كما تشمل مبادرات مجتمعية تهدف إلى تعزيز التماسك الاجتماعي، وخدمة البيئة، وبناء علاقات قائمة على الثقة والتعاون.</a:t>
            </a:r>
            <a:endParaRPr sz="3300">
              <a:solidFill>
                <a:schemeClr val="dk1"/>
              </a:solidFill>
              <a:latin typeface="Times New Roman"/>
              <a:ea typeface="Times New Roman"/>
              <a:cs typeface="Times New Roman"/>
              <a:sym typeface="Times New Roman"/>
            </a:endParaRPr>
          </a:p>
        </p:txBody>
      </p:sp>
      <p:cxnSp>
        <p:nvCxnSpPr>
          <p:cNvPr id="128" name="Google Shape;128;p24"/>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ماذا نفعل</a:t>
            </a:r>
            <a:endParaRPr/>
          </a:p>
        </p:txBody>
      </p:sp>
      <p:sp>
        <p:nvSpPr>
          <p:cNvPr id="134" name="Google Shape;134;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1200"/>
              </a:spcBef>
              <a:spcAft>
                <a:spcPts val="0"/>
              </a:spcAft>
              <a:buSzPts val="1800"/>
              <a:buNone/>
            </a:pPr>
            <a:r>
              <a:rPr b="1" lang="en" sz="1200">
                <a:solidFill>
                  <a:srgbClr val="FF0000"/>
                </a:solidFill>
              </a:rPr>
              <a:t>ك</a:t>
            </a:r>
            <a:r>
              <a:rPr b="1" lang="en" sz="1400">
                <a:solidFill>
                  <a:srgbClr val="FF0000"/>
                </a:solidFill>
              </a:rPr>
              <a:t>ل الملاحضات بين الاقواس يمكن ازالتها أو اضافتها</a:t>
            </a:r>
            <a:endParaRPr b="1" sz="1400">
              <a:solidFill>
                <a:srgbClr val="FF0000"/>
              </a:solidFill>
            </a:endParaRPr>
          </a:p>
          <a:p>
            <a:pPr indent="0" lvl="0" marL="0" rtl="1" algn="r">
              <a:lnSpc>
                <a:spcPct val="115000"/>
              </a:lnSpc>
              <a:spcBef>
                <a:spcPts val="1200"/>
              </a:spcBef>
              <a:spcAft>
                <a:spcPts val="0"/>
              </a:spcAft>
              <a:buClr>
                <a:schemeClr val="dk1"/>
              </a:buClr>
              <a:buSzPts val="1100"/>
              <a:buFont typeface="Arial"/>
              <a:buNone/>
            </a:pPr>
            <a:r>
              <a:rPr lang="en" sz="1600">
                <a:solidFill>
                  <a:schemeClr val="dk1"/>
                </a:solidFill>
              </a:rPr>
              <a:t>من اهم التعاليم والمبادئ البهائية هي (تلك) التي تدعو الافراد والمؤسسات ان يبذلوا الجهد فيما يمكن ان نسميه\يسمى بالهدف المزدوج وهو ان يسعى الإنسان ان يصلح نفسه (وذلك) من اجل هدف أسمي وهو خدمة وإصلاح المجتمع.</a:t>
            </a:r>
            <a:endParaRPr sz="16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lang="en" sz="1600">
                <a:solidFill>
                  <a:schemeClr val="dk1"/>
                </a:solidFill>
              </a:rPr>
              <a:t>ومن بدايات تواجد البهائيين في مصر في أواخر القرن التاسع عشر وهم يسعون عن محبةً لا تنطفئ لوطنهم وللعالم، وولاءً عميق لمجتمعهم (وايمان عميق بنبل أبناء ذلك المجتمع) بالقيام بخدمات محلية أينما سكنوا ساعون لإيقاظ وتنمية المواهب والكفاءات والطاقات الكامنة في معارفهم (وجيرانهم) اناثا وذكورا، كبارا وصغارا.</a:t>
            </a:r>
            <a:endParaRPr sz="16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lang="en" sz="1600">
                <a:solidFill>
                  <a:schemeClr val="dk1"/>
                </a:solidFill>
              </a:rPr>
              <a:t>وعن طريق شحذ السمات والصفات الروحية (خلال مبادرات فكرية\فضاءات فكرية وحلقات دراسة) و(كذلك) تنمية السلوكيات الإنسانية بالأعمال الطيبة (الطاهرة) والجهود المخلصة (النابعة عن تلك المحبة) يبذلون الجهد نحو بناء مجتمع يحتضن باحترام ومساواة كل عناصر نسيجه (المتعددة).</a:t>
            </a:r>
            <a:endParaRPr sz="16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lang="en" sz="1600">
                <a:solidFill>
                  <a:schemeClr val="dk1"/>
                </a:solidFill>
              </a:rPr>
              <a:t> </a:t>
            </a:r>
            <a:endParaRPr sz="1600">
              <a:solidFill>
                <a:schemeClr val="dk1"/>
              </a:solidFill>
            </a:endParaRPr>
          </a:p>
          <a:p>
            <a:pPr indent="0" lvl="0" marL="0" rtl="1" algn="r">
              <a:lnSpc>
                <a:spcPct val="115000"/>
              </a:lnSpc>
              <a:spcBef>
                <a:spcPts val="1200"/>
              </a:spcBef>
              <a:spcAft>
                <a:spcPts val="0"/>
              </a:spcAft>
              <a:buClr>
                <a:schemeClr val="dk1"/>
              </a:buClr>
              <a:buSzPts val="1100"/>
              <a:buFont typeface="Arial"/>
              <a:buNone/>
            </a:pPr>
            <a:r>
              <a:rPr lang="en" sz="1400">
                <a:solidFill>
                  <a:schemeClr val="dk1"/>
                </a:solidFill>
              </a:rPr>
              <a:t> </a:t>
            </a:r>
            <a:endParaRPr sz="1400">
              <a:solidFill>
                <a:schemeClr val="dk1"/>
              </a:solidFill>
            </a:endParaRPr>
          </a:p>
          <a:p>
            <a:pPr indent="0" lvl="0" marL="0" rtl="1" algn="r">
              <a:lnSpc>
                <a:spcPct val="115000"/>
              </a:lnSpc>
              <a:spcBef>
                <a:spcPts val="1200"/>
              </a:spcBef>
              <a:spcAft>
                <a:spcPts val="1200"/>
              </a:spcAft>
              <a:buSzPts val="1800"/>
              <a:buNone/>
            </a:pPr>
            <a:r>
              <a:t/>
            </a:r>
            <a:endParaRPr b="1" sz="1400">
              <a:solidFill>
                <a:srgbClr val="FF0000"/>
              </a:solidFill>
            </a:endParaRPr>
          </a:p>
        </p:txBody>
      </p:sp>
      <p:cxnSp>
        <p:nvCxnSpPr>
          <p:cNvPr id="135" name="Google Shape;135;p25"/>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
        <p:nvSpPr>
          <p:cNvPr id="136" name="Google Shape;136;p25"/>
          <p:cNvSpPr txBox="1"/>
          <p:nvPr/>
        </p:nvSpPr>
        <p:spPr>
          <a:xfrm>
            <a:off x="84100" y="129400"/>
            <a:ext cx="4813500" cy="25425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Some of the content from this slide may be used for the ‘ contributions ‘ section</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98275" y="2488550"/>
            <a:ext cx="8520600" cy="572700"/>
          </a:xfrm>
          <a:prstGeom prst="rect">
            <a:avLst/>
          </a:prstGeom>
        </p:spPr>
        <p:txBody>
          <a:bodyPr anchorCtr="0" anchor="t" bIns="91425" lIns="91425" spcFirstLastPara="1" rIns="91425" wrap="square" tIns="91425">
            <a:noAutofit/>
          </a:bodyPr>
          <a:lstStyle/>
          <a:p>
            <a:pPr indent="0" lvl="0" marL="0" rtl="1" algn="ctr">
              <a:lnSpc>
                <a:spcPct val="115000"/>
              </a:lnSpc>
              <a:spcBef>
                <a:spcPts val="2400"/>
              </a:spcBef>
              <a:spcAft>
                <a:spcPts val="0"/>
              </a:spcAft>
              <a:buNone/>
            </a:pPr>
            <a:r>
              <a:rPr b="1" lang="en" sz="4000">
                <a:solidFill>
                  <a:srgbClr val="366091"/>
                </a:solidFill>
                <a:latin typeface="Calibri"/>
                <a:ea typeface="Calibri"/>
                <a:cs typeface="Calibri"/>
                <a:sym typeface="Calibri"/>
              </a:rPr>
              <a:t>تاريخ البهائية في مصر</a:t>
            </a:r>
            <a:endParaRPr b="1" sz="4000">
              <a:solidFill>
                <a:srgbClr val="36609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nvSpPr>
        <p:spPr>
          <a:xfrm>
            <a:off x="664925" y="781450"/>
            <a:ext cx="7773900" cy="3816300"/>
          </a:xfrm>
          <a:prstGeom prst="rect">
            <a:avLst/>
          </a:prstGeom>
          <a:noFill/>
          <a:ln>
            <a:noFill/>
          </a:ln>
        </p:spPr>
        <p:txBody>
          <a:bodyPr anchorCtr="0" anchor="ctr" bIns="91425" lIns="91425" spcFirstLastPara="1" rIns="91425" wrap="square" tIns="91425">
            <a:noAutofit/>
          </a:bodyPr>
          <a:lstStyle/>
          <a:p>
            <a:pPr indent="0" lvl="0" marL="0" marR="0" rtl="1" algn="ctr">
              <a:lnSpc>
                <a:spcPct val="115000"/>
              </a:lnSpc>
              <a:spcBef>
                <a:spcPts val="1200"/>
              </a:spcBef>
              <a:spcAft>
                <a:spcPts val="0"/>
              </a:spcAft>
              <a:buClr>
                <a:srgbClr val="000000"/>
              </a:buClr>
              <a:buSzPts val="2400"/>
              <a:buFont typeface="Arial"/>
              <a:buNone/>
            </a:pPr>
            <a:r>
              <a:rPr b="1" i="0" lang="en" sz="2400" u="none" cap="none" strike="noStrike">
                <a:solidFill>
                  <a:srgbClr val="0F0F0F"/>
                </a:solidFill>
                <a:latin typeface="Arial"/>
                <a:ea typeface="Arial"/>
                <a:cs typeface="Arial"/>
                <a:sym typeface="Arial"/>
              </a:rPr>
              <a:t>يَا ابْنَ الوُجُودِ</a:t>
            </a:r>
            <a:endParaRPr b="1" i="0" sz="2400" u="none" cap="none" strike="noStrike">
              <a:solidFill>
                <a:srgbClr val="0F0F0F"/>
              </a:solidFill>
              <a:latin typeface="Arial"/>
              <a:ea typeface="Arial"/>
              <a:cs typeface="Arial"/>
              <a:sym typeface="Arial"/>
            </a:endParaRPr>
          </a:p>
          <a:p>
            <a:pPr indent="0" lvl="0" marL="0" marR="0" rtl="1" algn="ctr">
              <a:lnSpc>
                <a:spcPct val="115000"/>
              </a:lnSpc>
              <a:spcBef>
                <a:spcPts val="1200"/>
              </a:spcBef>
              <a:spcAft>
                <a:spcPts val="1200"/>
              </a:spcAft>
              <a:buClr>
                <a:srgbClr val="000000"/>
              </a:buClr>
              <a:buSzPts val="2400"/>
              <a:buFont typeface="Arial"/>
              <a:buNone/>
            </a:pPr>
            <a:r>
              <a:rPr b="1" i="0" lang="en" sz="2400" u="none" cap="none" strike="noStrike">
                <a:solidFill>
                  <a:srgbClr val="0F0F0F"/>
                </a:solidFill>
                <a:latin typeface="Arial"/>
                <a:ea typeface="Arial"/>
                <a:cs typeface="Arial"/>
                <a:sym typeface="Arial"/>
              </a:rPr>
              <a:t>  حُبِّي حِصْني مَنْ دَخَلَ فِيهِ نَجا وَأَمِنَ وَمَنْ أَعْرَضَ غَوَى وَهَلَكَ.</a:t>
            </a:r>
            <a:endParaRPr b="1" i="0" sz="2400" u="none" cap="none" strike="noStrike">
              <a:solidFill>
                <a:srgbClr val="0F0F0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2400"/>
              </a:spcBef>
              <a:spcAft>
                <a:spcPts val="0"/>
              </a:spcAft>
              <a:buSzPts val="990"/>
              <a:buNone/>
            </a:pPr>
            <a:r>
              <a:rPr b="1" lang="en" sz="2160">
                <a:solidFill>
                  <a:srgbClr val="366091"/>
                </a:solidFill>
                <a:latin typeface="Calibri"/>
                <a:ea typeface="Calibri"/>
                <a:cs typeface="Calibri"/>
                <a:sym typeface="Calibri"/>
              </a:rPr>
              <a:t>تاريخ البهائية في مصر</a:t>
            </a:r>
            <a:endParaRPr b="1" sz="2160">
              <a:solidFill>
                <a:srgbClr val="366091"/>
              </a:solidFill>
              <a:latin typeface="Calibri"/>
              <a:ea typeface="Calibri"/>
              <a:cs typeface="Calibri"/>
              <a:sym typeface="Calibri"/>
            </a:endParaRPr>
          </a:p>
          <a:p>
            <a:pPr indent="0" lvl="0" marL="0" rtl="1" algn="r">
              <a:lnSpc>
                <a:spcPct val="115000"/>
              </a:lnSpc>
              <a:spcBef>
                <a:spcPts val="2400"/>
              </a:spcBef>
              <a:spcAft>
                <a:spcPts val="0"/>
              </a:spcAft>
              <a:buSzPts val="990"/>
              <a:buNone/>
            </a:pPr>
            <a:r>
              <a:t/>
            </a:r>
            <a:endParaRPr b="1" sz="1979">
              <a:solidFill>
                <a:srgbClr val="366091"/>
              </a:solidFill>
              <a:latin typeface="Calibri"/>
              <a:ea typeface="Calibri"/>
              <a:cs typeface="Calibri"/>
              <a:sym typeface="Calibri"/>
            </a:endParaRPr>
          </a:p>
        </p:txBody>
      </p:sp>
      <p:sp>
        <p:nvSpPr>
          <p:cNvPr id="152" name="Google Shape;152;p28"/>
          <p:cNvSpPr txBox="1"/>
          <p:nvPr>
            <p:ph idx="1" type="body"/>
          </p:nvPr>
        </p:nvSpPr>
        <p:spPr>
          <a:xfrm>
            <a:off x="163540" y="863700"/>
            <a:ext cx="8854200" cy="42798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SzPts val="1100"/>
              <a:buNone/>
            </a:pPr>
            <a:r>
              <a:rPr lang="en" sz="2300">
                <a:solidFill>
                  <a:schemeClr val="dk1"/>
                </a:solidFill>
                <a:latin typeface="Cambria"/>
                <a:ea typeface="Cambria"/>
                <a:cs typeface="Cambria"/>
                <a:sym typeface="Cambria"/>
              </a:rPr>
              <a:t>نورٌ امتدّ عبر الزمان</a:t>
            </a:r>
            <a:endParaRPr sz="23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t/>
            </a:r>
            <a:endParaRPr sz="23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rPr lang="en" sz="2300">
                <a:solidFill>
                  <a:schemeClr val="dk1"/>
                </a:solidFill>
                <a:latin typeface="Cambria"/>
                <a:ea typeface="Cambria"/>
                <a:cs typeface="Cambria"/>
                <a:sym typeface="Cambria"/>
              </a:rPr>
              <a:t>يمتد وجود البهائيين في مصر إلى أكثر من قرن ونصف، حيث كانت مصر من أوائل البلدان التي شهدت انتشار هذه الدعوة.</a:t>
            </a:r>
            <a:endParaRPr sz="2300">
              <a:solidFill>
                <a:schemeClr val="dk1"/>
              </a:solidFill>
              <a:latin typeface="Cambria"/>
              <a:ea typeface="Cambria"/>
              <a:cs typeface="Cambria"/>
              <a:sym typeface="Cambria"/>
            </a:endParaRPr>
          </a:p>
          <a:p>
            <a:pPr indent="0" lvl="0" marL="0" rtl="1" algn="r">
              <a:lnSpc>
                <a:spcPct val="115000"/>
              </a:lnSpc>
              <a:spcBef>
                <a:spcPts val="1000"/>
              </a:spcBef>
              <a:spcAft>
                <a:spcPts val="0"/>
              </a:spcAft>
              <a:buSzPts val="1100"/>
              <a:buNone/>
            </a:pPr>
            <a:r>
              <a:rPr lang="en" sz="2300">
                <a:solidFill>
                  <a:schemeClr val="dk1"/>
                </a:solidFill>
                <a:latin typeface="Cambria"/>
                <a:ea typeface="Cambria"/>
                <a:cs typeface="Cambria"/>
                <a:sym typeface="Cambria"/>
              </a:rPr>
              <a:t>وقد لعبت مصر دورًا مهمًا في تاريخ الديانة البهائية، نظرًا لموقعها الثقافي والجغرافي، مما جعلها مركزًا للتفاعل الفكري والديني في المنطقة.</a:t>
            </a:r>
            <a:endParaRPr sz="2300">
              <a:solidFill>
                <a:schemeClr val="dk1"/>
              </a:solidFill>
              <a:latin typeface="Cambria"/>
              <a:ea typeface="Cambria"/>
              <a:cs typeface="Cambria"/>
              <a:sym typeface="Cambria"/>
            </a:endParaRPr>
          </a:p>
          <a:p>
            <a:pPr indent="0" lvl="0" marL="0" rtl="1" algn="r">
              <a:lnSpc>
                <a:spcPct val="115000"/>
              </a:lnSpc>
              <a:spcBef>
                <a:spcPts val="1000"/>
              </a:spcBef>
              <a:spcAft>
                <a:spcPts val="1000"/>
              </a:spcAft>
              <a:buSzPts val="1100"/>
              <a:buNone/>
            </a:pPr>
            <a:r>
              <a:rPr lang="en" sz="2300">
                <a:solidFill>
                  <a:schemeClr val="dk1"/>
                </a:solidFill>
                <a:latin typeface="Cambria"/>
                <a:ea typeface="Cambria"/>
                <a:cs typeface="Cambria"/>
                <a:sym typeface="Cambria"/>
              </a:rPr>
              <a:t>ويعكس هذا التاريخ إسهامات متعددة في مجالات الفكر والثقافة والفن، ساهمت في إثراء الحياة الفكرية والاجتماعية في مصر.</a:t>
            </a:r>
            <a:endParaRPr sz="3400">
              <a:solidFill>
                <a:schemeClr val="dk1"/>
              </a:solidFill>
              <a:latin typeface="Cambria"/>
              <a:ea typeface="Cambria"/>
              <a:cs typeface="Cambria"/>
              <a:sym typeface="Cambria"/>
            </a:endParaRPr>
          </a:p>
        </p:txBody>
      </p:sp>
      <p:cxnSp>
        <p:nvCxnSpPr>
          <p:cNvPr id="153" name="Google Shape;153;p28"/>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تاريخ الدين البهائي في مصر</a:t>
            </a:r>
            <a:endParaRPr/>
          </a:p>
        </p:txBody>
      </p:sp>
      <p:cxnSp>
        <p:nvCxnSpPr>
          <p:cNvPr id="159" name="Google Shape;159;p29"/>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pic>
        <p:nvPicPr>
          <p:cNvPr id="160" name="Google Shape;160;p29"/>
          <p:cNvPicPr preferRelativeResize="0"/>
          <p:nvPr/>
        </p:nvPicPr>
        <p:blipFill rotWithShape="1">
          <a:blip r:embed="rId3">
            <a:alphaModFix/>
          </a:blip>
          <a:srcRect b="0" l="0" r="0" t="0"/>
          <a:stretch/>
        </p:blipFill>
        <p:spPr>
          <a:xfrm>
            <a:off x="241373" y="1126925"/>
            <a:ext cx="8626749" cy="38214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تاريخ الدين البهائي في مصر</a:t>
            </a:r>
            <a:endParaRPr/>
          </a:p>
        </p:txBody>
      </p:sp>
      <p:cxnSp>
        <p:nvCxnSpPr>
          <p:cNvPr id="166" name="Google Shape;166;p30"/>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pic>
        <p:nvPicPr>
          <p:cNvPr id="167" name="Google Shape;167;p30"/>
          <p:cNvPicPr preferRelativeResize="0"/>
          <p:nvPr/>
        </p:nvPicPr>
        <p:blipFill rotWithShape="1">
          <a:blip r:embed="rId3">
            <a:alphaModFix/>
          </a:blip>
          <a:srcRect b="0" l="0" r="0" t="0"/>
          <a:stretch/>
        </p:blipFill>
        <p:spPr>
          <a:xfrm>
            <a:off x="2504739" y="991925"/>
            <a:ext cx="4432224" cy="3987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تاريخ الدين البهائي في مصر</a:t>
            </a:r>
            <a:endParaRPr/>
          </a:p>
        </p:txBody>
      </p:sp>
      <p:cxnSp>
        <p:nvCxnSpPr>
          <p:cNvPr id="173" name="Google Shape;173;p31"/>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pic>
        <p:nvPicPr>
          <p:cNvPr id="174" name="Google Shape;174;p31"/>
          <p:cNvPicPr preferRelativeResize="0"/>
          <p:nvPr/>
        </p:nvPicPr>
        <p:blipFill rotWithShape="1">
          <a:blip r:embed="rId3">
            <a:alphaModFix/>
          </a:blip>
          <a:srcRect b="0" l="0" r="0" t="0"/>
          <a:stretch/>
        </p:blipFill>
        <p:spPr>
          <a:xfrm>
            <a:off x="735750" y="895873"/>
            <a:ext cx="7744144" cy="4091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تاريخ الدين البهائي فى مصر</a:t>
            </a:r>
            <a:endParaRPr/>
          </a:p>
        </p:txBody>
      </p:sp>
      <p:sp>
        <p:nvSpPr>
          <p:cNvPr id="180" name="Google Shape;180;p32"/>
          <p:cNvSpPr txBox="1"/>
          <p:nvPr>
            <p:ph idx="1" type="body"/>
          </p:nvPr>
        </p:nvSpPr>
        <p:spPr>
          <a:xfrm>
            <a:off x="311700" y="1152475"/>
            <a:ext cx="8520600" cy="38532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0"/>
              </a:spcBef>
              <a:spcAft>
                <a:spcPts val="0"/>
              </a:spcAft>
              <a:buClr>
                <a:schemeClr val="dk1"/>
              </a:buClr>
              <a:buSzPts val="1100"/>
              <a:buFont typeface="Arial"/>
              <a:buNone/>
            </a:pPr>
            <a:r>
              <a:rPr lang="en" sz="1700">
                <a:solidFill>
                  <a:srgbClr val="303030"/>
                </a:solidFill>
                <a:highlight>
                  <a:srgbClr val="FFFFFF"/>
                </a:highlight>
              </a:rPr>
              <a:t>على هذه الأرض الطيبة التي كانت دوماً ملقىً للحضارات ومنارةً للحرية، يمتد تاريخ الجامعة البهائية في مصر لأكثر من مائة وثمانون عاماً. فمنذ عام 1863م، نمت جذور هذه الجامعة في وجدان الوطن، لتكون جزءاً لا يتجزأ من نسيجه الاجتماعي وتاريخه الحديث، حيث كانت مصر المحطة الأولى والمنطلق لرسالة السلام والوحدة التي حملها حضرة عبد البهاء إلى العالم بعد نيله حريته.</a:t>
            </a:r>
            <a:endParaRPr sz="1700">
              <a:solidFill>
                <a:srgbClr val="303030"/>
              </a:solidFill>
              <a:highlight>
                <a:srgbClr val="FFFFFF"/>
              </a:highlight>
            </a:endParaRPr>
          </a:p>
          <a:p>
            <a:pPr indent="0" lvl="0" marL="0" rtl="1" algn="r">
              <a:lnSpc>
                <a:spcPct val="115000"/>
              </a:lnSpc>
              <a:spcBef>
                <a:spcPts val="0"/>
              </a:spcBef>
              <a:spcAft>
                <a:spcPts val="0"/>
              </a:spcAft>
              <a:buClr>
                <a:schemeClr val="dk1"/>
              </a:buClr>
              <a:buSzPts val="1100"/>
              <a:buFont typeface="Arial"/>
              <a:buNone/>
            </a:pPr>
            <a:r>
              <a:rPr lang="en" sz="1700">
                <a:solidFill>
                  <a:srgbClr val="303030"/>
                </a:solidFill>
                <a:highlight>
                  <a:srgbClr val="FFFFFF"/>
                </a:highlight>
              </a:rPr>
              <a:t>إن وجودنا في مصر ليس مجرد تاريخ من المهاجرين الأوائل، بل هو قصة تلاحم فكري وإنساني؛ فقد شهدت صالونات القاهرة والإسكندرية حوارات عميقة بين حضرة عبد البهاء وبين رواد النهضة المصرية، من أمثال أمير الشعراء أحمد شوقي وعباس محمود العقاد والشيخ محمد عبده، الذين رأوا في هذه التعاليم آفاقاً لنهضة المجتمع ورقيّه. كما سطر القضاء المصري في عام 1925م حكماً تاريخياً رائداً، جعل من مصر أول دولة في العالم العربي والإسلامي تقر بالاستقلال الديني للعقيدة البهائية كدين قائم بذاته</a:t>
            </a:r>
            <a:endParaRPr sz="1700">
              <a:solidFill>
                <a:srgbClr val="303030"/>
              </a:solidFill>
              <a:highlight>
                <a:srgbClr val="FFFFFF"/>
              </a:highlight>
            </a:endParaRPr>
          </a:p>
          <a:p>
            <a:pPr indent="0" lvl="0" marL="0" rtl="1" algn="r">
              <a:lnSpc>
                <a:spcPct val="115000"/>
              </a:lnSpc>
              <a:spcBef>
                <a:spcPts val="0"/>
              </a:spcBef>
              <a:spcAft>
                <a:spcPts val="0"/>
              </a:spcAft>
              <a:buSzPts val="1100"/>
              <a:buNone/>
            </a:pPr>
            <a:r>
              <a:rPr lang="en" sz="1700">
                <a:solidFill>
                  <a:srgbClr val="0F0F0F"/>
                </a:solidFill>
                <a:highlight>
                  <a:srgbClr val="FFFFFF"/>
                </a:highlight>
                <a:latin typeface="Roboto"/>
                <a:ea typeface="Roboto"/>
                <a:cs typeface="Roboto"/>
                <a:sym typeface="Roboto"/>
              </a:rPr>
              <a:t> </a:t>
            </a:r>
            <a:endParaRPr sz="1700">
              <a:solidFill>
                <a:srgbClr val="0F0F0F"/>
              </a:solidFill>
              <a:highlight>
                <a:srgbClr val="FFFFFF"/>
              </a:highlight>
              <a:latin typeface="Roboto"/>
              <a:ea typeface="Roboto"/>
              <a:cs typeface="Roboto"/>
              <a:sym typeface="Roboto"/>
            </a:endParaRPr>
          </a:p>
          <a:p>
            <a:pPr indent="0" lvl="0" marL="0" rtl="1" algn="r">
              <a:lnSpc>
                <a:spcPct val="115000"/>
              </a:lnSpc>
              <a:spcBef>
                <a:spcPts val="0"/>
              </a:spcBef>
              <a:spcAft>
                <a:spcPts val="0"/>
              </a:spcAft>
              <a:buSzPts val="1100"/>
              <a:buNone/>
            </a:pPr>
            <a:r>
              <a:t/>
            </a:r>
            <a:endParaRPr b="1" sz="1600">
              <a:solidFill>
                <a:srgbClr val="FF0000"/>
              </a:solidFill>
              <a:highlight>
                <a:srgbClr val="FFFFFF"/>
              </a:highlight>
              <a:latin typeface="Roboto"/>
              <a:ea typeface="Roboto"/>
              <a:cs typeface="Roboto"/>
              <a:sym typeface="Roboto"/>
            </a:endParaRPr>
          </a:p>
          <a:p>
            <a:pPr indent="0" lvl="0" marL="6858000" rtl="1" algn="r">
              <a:lnSpc>
                <a:spcPct val="115000"/>
              </a:lnSpc>
              <a:spcBef>
                <a:spcPts val="0"/>
              </a:spcBef>
              <a:spcAft>
                <a:spcPts val="0"/>
              </a:spcAft>
              <a:buSzPts val="1100"/>
              <a:buNone/>
            </a:pPr>
            <a:r>
              <a:rPr b="1" lang="en" sz="1600" u="sng">
                <a:solidFill>
                  <a:srgbClr val="0F0F0F"/>
                </a:solidFill>
                <a:highlight>
                  <a:srgbClr val="FFFFFF"/>
                </a:highlight>
                <a:latin typeface="Roboto"/>
                <a:ea typeface="Roboto"/>
                <a:cs typeface="Roboto"/>
                <a:sym typeface="Roboto"/>
              </a:rPr>
              <a:t>لقرأة المزيد…</a:t>
            </a:r>
            <a:endParaRPr b="1" sz="1600" u="sng">
              <a:solidFill>
                <a:srgbClr val="0F0F0F"/>
              </a:solidFill>
              <a:highlight>
                <a:srgbClr val="FFFFFF"/>
              </a:highlight>
              <a:latin typeface="Roboto"/>
              <a:ea typeface="Roboto"/>
              <a:cs typeface="Roboto"/>
              <a:sym typeface="Roboto"/>
            </a:endParaRPr>
          </a:p>
          <a:p>
            <a:pPr indent="0" lvl="0" marL="0" rtl="1" algn="r">
              <a:lnSpc>
                <a:spcPct val="115000"/>
              </a:lnSpc>
              <a:spcBef>
                <a:spcPts val="0"/>
              </a:spcBef>
              <a:spcAft>
                <a:spcPts val="0"/>
              </a:spcAft>
              <a:buSzPts val="1800"/>
              <a:buNone/>
            </a:pPr>
            <a:r>
              <a:t/>
            </a:r>
            <a:endParaRPr b="1" sz="1600">
              <a:solidFill>
                <a:srgbClr val="0F0F0F"/>
              </a:solidFill>
              <a:highlight>
                <a:srgbClr val="FFFFFF"/>
              </a:highlight>
              <a:latin typeface="Roboto"/>
              <a:ea typeface="Roboto"/>
              <a:cs typeface="Roboto"/>
              <a:sym typeface="Roboto"/>
            </a:endParaRPr>
          </a:p>
          <a:p>
            <a:pPr indent="0" lvl="0" marL="0" rtl="1" algn="r">
              <a:lnSpc>
                <a:spcPct val="115000"/>
              </a:lnSpc>
              <a:spcBef>
                <a:spcPts val="1200"/>
              </a:spcBef>
              <a:spcAft>
                <a:spcPts val="1200"/>
              </a:spcAft>
              <a:buSzPts val="1800"/>
              <a:buNone/>
            </a:pPr>
            <a:r>
              <a:t/>
            </a:r>
            <a:endParaRPr b="1" sz="1600"/>
          </a:p>
        </p:txBody>
      </p:sp>
      <p:cxnSp>
        <p:nvCxnSpPr>
          <p:cNvPr id="181" name="Google Shape;181;p32"/>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title"/>
          </p:nvPr>
        </p:nvSpPr>
        <p:spPr>
          <a:xfrm>
            <a:off x="398275" y="2488550"/>
            <a:ext cx="8520600" cy="572700"/>
          </a:xfrm>
          <a:prstGeom prst="rect">
            <a:avLst/>
          </a:prstGeom>
        </p:spPr>
        <p:txBody>
          <a:bodyPr anchorCtr="0" anchor="t" bIns="91425" lIns="91425" spcFirstLastPara="1" rIns="91425" wrap="square" tIns="91425">
            <a:noAutofit/>
          </a:bodyPr>
          <a:lstStyle/>
          <a:p>
            <a:pPr indent="0" lvl="0" marL="0" rtl="1" algn="ctr">
              <a:lnSpc>
                <a:spcPct val="115000"/>
              </a:lnSpc>
              <a:spcBef>
                <a:spcPts val="2400"/>
              </a:spcBef>
              <a:spcAft>
                <a:spcPts val="0"/>
              </a:spcAft>
              <a:buClr>
                <a:schemeClr val="dk1"/>
              </a:buClr>
              <a:buSzPts val="1100"/>
              <a:buFont typeface="Arial"/>
              <a:buNone/>
            </a:pPr>
            <a:r>
              <a:rPr b="1" lang="en" sz="4000">
                <a:solidFill>
                  <a:srgbClr val="366091"/>
                </a:solidFill>
                <a:latin typeface="Calibri"/>
                <a:ea typeface="Calibri"/>
                <a:cs typeface="Calibri"/>
                <a:sym typeface="Calibri"/>
              </a:rPr>
              <a:t>الأسئلة الشائعة</a:t>
            </a:r>
            <a:endParaRPr b="1" sz="1600">
              <a:solidFill>
                <a:schemeClr val="dk2"/>
              </a:solidFill>
              <a:latin typeface="Calibri"/>
              <a:ea typeface="Calibri"/>
              <a:cs typeface="Calibri"/>
              <a:sym typeface="Calibri"/>
            </a:endParaRPr>
          </a:p>
          <a:p>
            <a:pPr indent="0" lvl="0" marL="0" rtl="1" algn="r">
              <a:lnSpc>
                <a:spcPct val="115000"/>
              </a:lnSpc>
              <a:spcBef>
                <a:spcPts val="2400"/>
              </a:spcBef>
              <a:spcAft>
                <a:spcPts val="0"/>
              </a:spcAft>
              <a:buNone/>
            </a:pPr>
            <a:r>
              <a:t/>
            </a:r>
            <a:endParaRPr b="1" sz="4000">
              <a:solidFill>
                <a:srgbClr val="36609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2" name="Google Shape;19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lnSpc>
                <a:spcPct val="115000"/>
              </a:lnSpc>
              <a:spcBef>
                <a:spcPts val="0"/>
              </a:spcBef>
              <a:spcAft>
                <a:spcPts val="0"/>
              </a:spcAft>
              <a:buClr>
                <a:schemeClr val="dk1"/>
              </a:buClr>
              <a:buSzPts val="1100"/>
              <a:buFont typeface="Arial"/>
              <a:buNone/>
            </a:pPr>
            <a:r>
              <a:rPr lang="en" sz="1100">
                <a:solidFill>
                  <a:schemeClr val="dk1"/>
                </a:solidFill>
                <a:latin typeface="Cambria"/>
                <a:ea typeface="Cambria"/>
                <a:cs typeface="Cambria"/>
                <a:sym typeface="Cambria"/>
              </a:rPr>
              <a:t>تحرّوا الحقيقة بأنفسكم</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rPr lang="en" sz="1100">
                <a:solidFill>
                  <a:schemeClr val="dk1"/>
                </a:solidFill>
                <a:latin typeface="Cambria"/>
                <a:ea typeface="Cambria"/>
                <a:cs typeface="Cambria"/>
                <a:sym typeface="Cambria"/>
              </a:rPr>
              <a:t>هل الديانة البهائية دين مستقل؟</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rPr lang="en" sz="1100">
                <a:solidFill>
                  <a:schemeClr val="dk1"/>
                </a:solidFill>
                <a:latin typeface="Cambria"/>
                <a:ea typeface="Cambria"/>
                <a:cs typeface="Cambria"/>
                <a:sym typeface="Cambria"/>
              </a:rPr>
              <a:t>نعم، الديانة البهائية دين عالمي مستقل له نصوصه وتعاليمه ونظامه الإداري.</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rPr lang="en" sz="1100">
                <a:solidFill>
                  <a:schemeClr val="dk1"/>
                </a:solidFill>
                <a:latin typeface="Cambria"/>
                <a:ea typeface="Cambria"/>
                <a:cs typeface="Cambria"/>
                <a:sym typeface="Cambria"/>
              </a:rPr>
              <a:t>ما هدف هذا الموقع؟</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rPr lang="en" sz="1100">
                <a:solidFill>
                  <a:schemeClr val="dk1"/>
                </a:solidFill>
                <a:latin typeface="Cambria"/>
                <a:ea typeface="Cambria"/>
                <a:cs typeface="Cambria"/>
                <a:sym typeface="Cambria"/>
              </a:rPr>
              <a:t>يهدف الموقع إلى التعريف بالدين البهائي ومبادئه، وإبراز مساهمات المجتمع البهائي في مصر.</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rPr lang="en" sz="1100">
                <a:solidFill>
                  <a:schemeClr val="dk1"/>
                </a:solidFill>
                <a:latin typeface="Cambria"/>
                <a:ea typeface="Cambria"/>
                <a:cs typeface="Cambria"/>
                <a:sym typeface="Cambria"/>
              </a:rPr>
              <a:t>ما أبرز المبادئ التي يؤكد عليها البهائيون؟</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1000"/>
              </a:spcAft>
              <a:buClr>
                <a:schemeClr val="dk1"/>
              </a:buClr>
              <a:buSzPts val="1100"/>
              <a:buFont typeface="Arial"/>
              <a:buNone/>
            </a:pPr>
            <a:r>
              <a:rPr lang="en" sz="1100">
                <a:solidFill>
                  <a:schemeClr val="dk1"/>
                </a:solidFill>
                <a:latin typeface="Cambria"/>
                <a:ea typeface="Cambria"/>
                <a:cs typeface="Cambria"/>
                <a:sym typeface="Cambria"/>
              </a:rPr>
              <a:t>وحدة الجنس البشري، المساواة، نبذ التعصب، التوافق بين العلم والدين، وخدمة المجتمع.</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98275" y="2488550"/>
            <a:ext cx="8520600" cy="5727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1" algn="ctr">
              <a:spcBef>
                <a:spcPts val="0"/>
              </a:spcBef>
              <a:spcAft>
                <a:spcPts val="0"/>
              </a:spcAft>
              <a:buNone/>
            </a:pPr>
            <a:r>
              <a:rPr lang="en" sz="4000">
                <a:solidFill>
                  <a:srgbClr val="366091"/>
                </a:solidFill>
              </a:rPr>
              <a:t>تواصل معنا</a:t>
            </a:r>
            <a:endParaRPr b="1" sz="5500">
              <a:solidFill>
                <a:srgbClr val="366091"/>
              </a:solidFill>
              <a:latin typeface="Calibri"/>
              <a:ea typeface="Calibri"/>
              <a:cs typeface="Calibri"/>
              <a:sym typeface="Calibri"/>
            </a:endParaRPr>
          </a:p>
          <a:p>
            <a:pPr indent="0" lvl="0" marL="0" rtl="1" algn="ctr">
              <a:lnSpc>
                <a:spcPct val="115000"/>
              </a:lnSpc>
              <a:spcBef>
                <a:spcPts val="2400"/>
              </a:spcBef>
              <a:spcAft>
                <a:spcPts val="0"/>
              </a:spcAft>
              <a:buNone/>
            </a:pPr>
            <a:r>
              <a:t/>
            </a:r>
            <a:endParaRPr b="1" sz="5500">
              <a:solidFill>
                <a:srgbClr val="36609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3" name="Google Shape;2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lnSpc>
                <a:spcPct val="115000"/>
              </a:lnSpc>
              <a:spcBef>
                <a:spcPts val="0"/>
              </a:spcBef>
              <a:spcAft>
                <a:spcPts val="0"/>
              </a:spcAft>
              <a:buClr>
                <a:schemeClr val="dk1"/>
              </a:buClr>
              <a:buSzPts val="1100"/>
              <a:buFont typeface="Arial"/>
              <a:buNone/>
            </a:pPr>
            <a:r>
              <a:rPr lang="en" sz="1100">
                <a:solidFill>
                  <a:schemeClr val="dk1"/>
                </a:solidFill>
                <a:latin typeface="Cambria"/>
                <a:ea typeface="Cambria"/>
                <a:cs typeface="Cambria"/>
                <a:sym typeface="Cambria"/>
              </a:rPr>
              <a:t>باب المحبة مفتوح للجميع</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rPr lang="en" sz="1100">
                <a:solidFill>
                  <a:schemeClr val="dk1"/>
                </a:solidFill>
                <a:latin typeface="Cambria"/>
                <a:ea typeface="Cambria"/>
                <a:cs typeface="Cambria"/>
                <a:sym typeface="Cambria"/>
              </a:rPr>
              <a:t>يسعدنا استقبال استفساراتكم والتواصل معكم للتعرف على المزيد حول المجتمع البهائي وأنشطته.</a:t>
            </a:r>
            <a:endParaRPr sz="1100">
              <a:solidFill>
                <a:schemeClr val="dk1"/>
              </a:solidFill>
              <a:latin typeface="Cambria"/>
              <a:ea typeface="Cambria"/>
              <a:cs typeface="Cambria"/>
              <a:sym typeface="Cambria"/>
            </a:endParaRPr>
          </a:p>
          <a:p>
            <a:pPr indent="0" lvl="0" marL="0" rtl="1" algn="r">
              <a:lnSpc>
                <a:spcPct val="115000"/>
              </a:lnSpc>
              <a:spcBef>
                <a:spcPts val="1000"/>
              </a:spcBef>
              <a:spcAft>
                <a:spcPts val="0"/>
              </a:spcAft>
              <a:buClr>
                <a:schemeClr val="dk1"/>
              </a:buClr>
              <a:buSzPts val="1100"/>
              <a:buFont typeface="Arial"/>
              <a:buNone/>
            </a:pPr>
            <a:r>
              <a:rPr lang="en" sz="1100">
                <a:solidFill>
                  <a:schemeClr val="dk1"/>
                </a:solidFill>
                <a:latin typeface="Cambria"/>
                <a:ea typeface="Cambria"/>
                <a:cs typeface="Cambria"/>
                <a:sym typeface="Cambria"/>
              </a:rPr>
              <a:t>يمكنكم التواصل معنا عبر البريد الإلكتروني أو من خلال النماذج المتاحة على الموقع.</a:t>
            </a:r>
            <a:endParaRPr sz="1100">
              <a:solidFill>
                <a:schemeClr val="dk1"/>
              </a:solidFill>
              <a:latin typeface="Cambria"/>
              <a:ea typeface="Cambria"/>
              <a:cs typeface="Cambria"/>
              <a:sym typeface="Cambria"/>
            </a:endParaRPr>
          </a:p>
          <a:p>
            <a:pPr indent="0" lvl="0" marL="0" rtl="0" algn="l">
              <a:spcBef>
                <a:spcPts val="10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الكلمات المكنونة</a:t>
            </a:r>
            <a:endParaRPr/>
          </a:p>
        </p:txBody>
      </p:sp>
      <p:sp>
        <p:nvSpPr>
          <p:cNvPr id="209" name="Google Shape;209;p37"/>
          <p:cNvSpPr txBox="1"/>
          <p:nvPr>
            <p:ph idx="1" type="body"/>
          </p:nvPr>
        </p:nvSpPr>
        <p:spPr>
          <a:xfrm>
            <a:off x="4852075" y="1152475"/>
            <a:ext cx="3980100" cy="3990900"/>
          </a:xfrm>
          <a:prstGeom prst="rect">
            <a:avLst/>
          </a:prstGeom>
          <a:noFill/>
          <a:ln>
            <a:noFill/>
          </a:ln>
        </p:spPr>
        <p:txBody>
          <a:bodyPr anchorCtr="0" anchor="t" bIns="91425" lIns="91425" spcFirstLastPara="1" rIns="91425" wrap="square" tIns="91425">
            <a:noAutofit/>
          </a:bodyPr>
          <a:lstStyle/>
          <a:p>
            <a:pPr indent="0" lvl="0" marL="0" rtl="1" algn="r">
              <a:lnSpc>
                <a:spcPct val="115000"/>
              </a:lnSpc>
              <a:spcBef>
                <a:spcPts val="1200"/>
              </a:spcBef>
              <a:spcAft>
                <a:spcPts val="0"/>
              </a:spcAft>
              <a:buClr>
                <a:schemeClr val="dk1"/>
              </a:buClr>
              <a:buSzPts val="1100"/>
              <a:buFont typeface="Arial"/>
              <a:buNone/>
            </a:pPr>
            <a:r>
              <a:rPr b="1" lang="en" sz="1200"/>
              <a:t>يَا ابْنَ الإِنْسانِ</a:t>
            </a:r>
            <a:endParaRPr b="1" sz="1200"/>
          </a:p>
          <a:p>
            <a:pPr indent="0" lvl="0" marL="0" rtl="1" algn="r">
              <a:lnSpc>
                <a:spcPct val="115000"/>
              </a:lnSpc>
              <a:spcBef>
                <a:spcPts val="1200"/>
              </a:spcBef>
              <a:spcAft>
                <a:spcPts val="0"/>
              </a:spcAft>
              <a:buClr>
                <a:schemeClr val="dk1"/>
              </a:buClr>
              <a:buSzPts val="1100"/>
              <a:buFont typeface="Arial"/>
              <a:buNone/>
            </a:pPr>
            <a:r>
              <a:rPr b="1" lang="en" sz="1200"/>
              <a:t>  أَحْبَبْتُ خَلْقَكَ فَخَلَقْتُكَ، فَأَحْبِبْني كَيْ أَذْكُرَكَ، وَفِي رُوحِ الْحَياةِ أُثَبِّتُكَ.</a:t>
            </a:r>
            <a:endParaRPr b="1" sz="1200"/>
          </a:p>
          <a:p>
            <a:pPr indent="0" lvl="0" marL="0" rtl="1" algn="r">
              <a:lnSpc>
                <a:spcPct val="115000"/>
              </a:lnSpc>
              <a:spcBef>
                <a:spcPts val="1200"/>
              </a:spcBef>
              <a:spcAft>
                <a:spcPts val="0"/>
              </a:spcAft>
              <a:buClr>
                <a:schemeClr val="dk1"/>
              </a:buClr>
              <a:buSzPts val="1100"/>
              <a:buFont typeface="Arial"/>
              <a:buNone/>
            </a:pPr>
            <a:r>
              <a:rPr b="1" lang="en" sz="1200"/>
              <a:t>يَا ابْنَ الوُجُودِ</a:t>
            </a:r>
            <a:endParaRPr b="1" sz="1200"/>
          </a:p>
          <a:p>
            <a:pPr indent="0" lvl="0" marL="0" rtl="1" algn="r">
              <a:lnSpc>
                <a:spcPct val="115000"/>
              </a:lnSpc>
              <a:spcBef>
                <a:spcPts val="1200"/>
              </a:spcBef>
              <a:spcAft>
                <a:spcPts val="0"/>
              </a:spcAft>
              <a:buSzPts val="1100"/>
              <a:buNone/>
            </a:pPr>
            <a:r>
              <a:rPr b="1" lang="en" sz="1200"/>
              <a:t>  حُبِّي حِصْني مَنْ دَخَلَ فِيهِ نَجا وَأَمِنَ وَمَنْ أَعْرَضَ غَوَى وَهَلَكَ.</a:t>
            </a:r>
            <a:endParaRPr b="1" sz="1200"/>
          </a:p>
          <a:p>
            <a:pPr indent="0" lvl="0" marL="0" rtl="1" algn="r">
              <a:lnSpc>
                <a:spcPct val="115000"/>
              </a:lnSpc>
              <a:spcBef>
                <a:spcPts val="1200"/>
              </a:spcBef>
              <a:spcAft>
                <a:spcPts val="0"/>
              </a:spcAft>
              <a:buClr>
                <a:schemeClr val="dk1"/>
              </a:buClr>
              <a:buSzPts val="1100"/>
              <a:buFont typeface="Arial"/>
              <a:buNone/>
            </a:pPr>
            <a:r>
              <a:rPr b="1" lang="en" sz="1200"/>
              <a:t>يَا ابْنَ الرُّوحِ</a:t>
            </a:r>
            <a:endParaRPr b="1" sz="1200"/>
          </a:p>
          <a:p>
            <a:pPr indent="0" lvl="0" marL="0" rtl="1" algn="r">
              <a:lnSpc>
                <a:spcPct val="115000"/>
              </a:lnSpc>
              <a:spcBef>
                <a:spcPts val="1200"/>
              </a:spcBef>
              <a:spcAft>
                <a:spcPts val="0"/>
              </a:spcAft>
              <a:buSzPts val="1100"/>
              <a:buNone/>
            </a:pPr>
            <a:r>
              <a:rPr b="1" lang="en" sz="1200"/>
              <a:t>  فِي أَوَّلِ القَوْلِ امْلِكْ قَلْباً جَيِّداً حَسَناً مُنيراً لِتَمْلِكَ مُلْكاً دائِماً باقِياً أَزَلاً قَدِيماً.</a:t>
            </a:r>
            <a:endParaRPr b="1" sz="1200"/>
          </a:p>
          <a:p>
            <a:pPr indent="0" lvl="0" marL="0" rtl="1" algn="r">
              <a:lnSpc>
                <a:spcPct val="115000"/>
              </a:lnSpc>
              <a:spcBef>
                <a:spcPts val="1200"/>
              </a:spcBef>
              <a:spcAft>
                <a:spcPts val="0"/>
              </a:spcAft>
              <a:buSzPts val="1100"/>
              <a:buNone/>
            </a:pPr>
            <a:r>
              <a:rPr b="1" lang="en" sz="1200"/>
              <a:t>يَا ابْنَ الرُّوحِ</a:t>
            </a:r>
            <a:endParaRPr b="1" sz="1200"/>
          </a:p>
          <a:p>
            <a:pPr indent="0" lvl="0" marL="0" rtl="1" algn="r">
              <a:lnSpc>
                <a:spcPct val="115000"/>
              </a:lnSpc>
              <a:spcBef>
                <a:spcPts val="1200"/>
              </a:spcBef>
              <a:spcAft>
                <a:spcPts val="0"/>
              </a:spcAft>
              <a:buSzPts val="1100"/>
              <a:buNone/>
            </a:pPr>
            <a:r>
              <a:rPr b="1" lang="en" sz="1200"/>
              <a:t>  خَلَقْتُكَ غَنِيّاً كَيْفَ تَفْتَقِرُ، وَصَنَعْتُكَ عَزِيزاً بِمَ تَسْتَذِلُّ، وَمِنْ جَوْهَرِ العِلْمِ أَظْهَرْتُكَ لِمَ تَسْتَعْلِمُ عَنْ دُونِي، وَمِنْ طينِ الْحُبِّ عَجَنْتُكَ كَيْفَ تَشْتَغِلُ بِغَيْري؛ فَأَرْجِعِ الْبَصَرَ إِلَيْكَ لِتَجِدَني فِيكَ قائِماً قادِراً مُقْتَدِراً قَيُّوماً.</a:t>
            </a:r>
            <a:endParaRPr b="1" sz="1200"/>
          </a:p>
          <a:p>
            <a:pPr indent="0" lvl="0" marL="0" rtl="1" algn="r">
              <a:lnSpc>
                <a:spcPct val="115000"/>
              </a:lnSpc>
              <a:spcBef>
                <a:spcPts val="1200"/>
              </a:spcBef>
              <a:spcAft>
                <a:spcPts val="1200"/>
              </a:spcAft>
              <a:buSzPts val="1100"/>
              <a:buNone/>
            </a:pPr>
            <a:r>
              <a:t/>
            </a:r>
            <a:endParaRPr b="1" sz="1200"/>
          </a:p>
        </p:txBody>
      </p:sp>
      <p:cxnSp>
        <p:nvCxnSpPr>
          <p:cNvPr id="210" name="Google Shape;210;p37"/>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
        <p:nvSpPr>
          <p:cNvPr id="211" name="Google Shape;211;p37"/>
          <p:cNvSpPr txBox="1"/>
          <p:nvPr/>
        </p:nvSpPr>
        <p:spPr>
          <a:xfrm>
            <a:off x="457200" y="1152475"/>
            <a:ext cx="4395000" cy="3806400"/>
          </a:xfrm>
          <a:prstGeom prst="rect">
            <a:avLst/>
          </a:prstGeom>
          <a:noFill/>
          <a:ln>
            <a:noFill/>
          </a:ln>
        </p:spPr>
        <p:txBody>
          <a:bodyPr anchorCtr="0" anchor="t" bIns="91425" lIns="91425" spcFirstLastPara="1" rIns="91425" wrap="square" tIns="91425">
            <a:noAutofit/>
          </a:bodyPr>
          <a:lstStyle/>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يَا ابْنَ الوُجُودِ</a:t>
            </a:r>
            <a:endParaRPr b="1" i="0" sz="1200" u="none" cap="none" strike="noStrike">
              <a:solidFill>
                <a:schemeClr val="dk2"/>
              </a:solidFill>
              <a:latin typeface="Arial"/>
              <a:ea typeface="Arial"/>
              <a:cs typeface="Arial"/>
              <a:sym typeface="Arial"/>
            </a:endParaRPr>
          </a:p>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  كَيْفَ نَسِيتَ عُيوبَ نَفْسِكَ وَاشْتَغَلْتَ بِعُيُوبِ عِبادِي. مَنْ كانَ عَلى ذلِكَ فَعَلَيْهِ لَعْنَةٌ مِنِّي.</a:t>
            </a:r>
            <a:endParaRPr b="1" i="0" sz="1200" u="none" cap="none" strike="noStrike">
              <a:solidFill>
                <a:schemeClr val="dk2"/>
              </a:solidFill>
              <a:latin typeface="Arial"/>
              <a:ea typeface="Arial"/>
              <a:cs typeface="Arial"/>
              <a:sym typeface="Arial"/>
            </a:endParaRPr>
          </a:p>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يَا ابْنَ الإِنْسانِ</a:t>
            </a:r>
            <a:endParaRPr b="1" i="0" sz="1200" u="none" cap="none" strike="noStrike">
              <a:solidFill>
                <a:schemeClr val="dk2"/>
              </a:solidFill>
              <a:latin typeface="Arial"/>
              <a:ea typeface="Arial"/>
              <a:cs typeface="Arial"/>
              <a:sym typeface="Arial"/>
            </a:endParaRPr>
          </a:p>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افْرَحْ بِسُرُورِ قَلْبِكَ، لِتَكُونَ قابِلاً لِلِقائِي وَمِرآةً لِجَمالِي.</a:t>
            </a:r>
            <a:endParaRPr b="1" i="0" sz="1200" u="none" cap="none" strike="noStrike">
              <a:solidFill>
                <a:schemeClr val="dk2"/>
              </a:solidFill>
              <a:latin typeface="Arial"/>
              <a:ea typeface="Arial"/>
              <a:cs typeface="Arial"/>
              <a:sym typeface="Arial"/>
            </a:endParaRPr>
          </a:p>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يَا ابْنَ البَشَرِ</a:t>
            </a:r>
            <a:endParaRPr b="1" i="0" sz="1200" u="none" cap="none" strike="noStrike">
              <a:solidFill>
                <a:schemeClr val="dk2"/>
              </a:solidFill>
              <a:latin typeface="Arial"/>
              <a:ea typeface="Arial"/>
              <a:cs typeface="Arial"/>
              <a:sym typeface="Arial"/>
            </a:endParaRPr>
          </a:p>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  إِنْ أَصَابَتْكَ نِعْمَةٌ لا تَفْرَحْ بِها، وَإِنْ تَمَسَّكَ ذِلَّةٌ لا تَحْزَنْ مِنْهَا، لأَنَّ كِلْتَيْهِما تَزُولانِ فِي حِين وَتَبِيدانِ فِي وَقْتٍ.</a:t>
            </a:r>
            <a:endParaRPr b="1" i="0" sz="1200" u="none" cap="none" strike="noStrike">
              <a:solidFill>
                <a:schemeClr val="dk2"/>
              </a:solidFill>
              <a:latin typeface="Arial"/>
              <a:ea typeface="Arial"/>
              <a:cs typeface="Arial"/>
              <a:sym typeface="Arial"/>
            </a:endParaRPr>
          </a:p>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يَا ابْنَ الإِنْسانِ</a:t>
            </a:r>
            <a:endParaRPr b="1" i="0" sz="1200" u="none" cap="none" strike="noStrike">
              <a:solidFill>
                <a:schemeClr val="dk2"/>
              </a:solidFill>
              <a:latin typeface="Arial"/>
              <a:ea typeface="Arial"/>
              <a:cs typeface="Arial"/>
              <a:sym typeface="Arial"/>
            </a:endParaRPr>
          </a:p>
          <a:p>
            <a:pPr indent="0" lvl="0" marL="0" marR="0" rtl="1" algn="r">
              <a:lnSpc>
                <a:spcPct val="115000"/>
              </a:lnSpc>
              <a:spcBef>
                <a:spcPts val="1200"/>
              </a:spcBef>
              <a:spcAft>
                <a:spcPts val="0"/>
              </a:spcAft>
              <a:buClr>
                <a:schemeClr val="dk1"/>
              </a:buClr>
              <a:buSzPts val="1100"/>
              <a:buFont typeface="Arial"/>
              <a:buNone/>
            </a:pPr>
            <a:r>
              <a:rPr b="1" i="0" lang="en" sz="1200" u="none" cap="none" strike="noStrike">
                <a:solidFill>
                  <a:schemeClr val="dk2"/>
                </a:solidFill>
                <a:latin typeface="Arial"/>
                <a:ea typeface="Arial"/>
                <a:cs typeface="Arial"/>
                <a:sym typeface="Arial"/>
              </a:rPr>
              <a:t>  أَنْتَ مُلْكِي وَمُلْكِي لا يَفْنى. كَيْفَ تَخافُ مِنْ فَنائِكَ، وَأَنْتَ نُوري وَنُوري لا يُطْفى. كَيْفَ تَضْطَرِبُ مِنْ إِطْفائِكَ، وَأَنْتَ بَهائِي وَبَهائِي لا يُغْشى، وَأَنْتَ قَمِيصي وَقَميصِي لا يَبْلَى. فَاسْتَرِح فِي حُبِّكَ إِيّايَ لِكَيْ تَجِدَنِي فِي الأُفُقِ الأَعْلى.</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1" i="0" sz="1200" u="none" cap="none" strike="noStrike">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الأعياد و المناسبات البهائية</a:t>
            </a:r>
            <a:endParaRPr/>
          </a:p>
        </p:txBody>
      </p:sp>
      <p:sp>
        <p:nvSpPr>
          <p:cNvPr id="217" name="Google Shape;21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1" algn="r">
              <a:lnSpc>
                <a:spcPct val="115000"/>
              </a:lnSpc>
              <a:spcBef>
                <a:spcPts val="0"/>
              </a:spcBef>
              <a:spcAft>
                <a:spcPts val="0"/>
              </a:spcAft>
              <a:buSzPts val="1800"/>
              <a:buNone/>
            </a:pPr>
            <a:r>
              <a:rPr lang="en"/>
              <a:t>1- وضع التقويم البهائى</a:t>
            </a:r>
            <a:endParaRPr/>
          </a:p>
          <a:p>
            <a:pPr indent="0" lvl="0" marL="0" rtl="1" algn="r">
              <a:lnSpc>
                <a:spcPct val="115000"/>
              </a:lnSpc>
              <a:spcBef>
                <a:spcPts val="1200"/>
              </a:spcBef>
              <a:spcAft>
                <a:spcPts val="1200"/>
              </a:spcAft>
              <a:buSzPts val="1800"/>
              <a:buNone/>
            </a:pPr>
            <a:r>
              <a:rPr lang="en"/>
              <a:t>2- ذكر الأعياد والمناسبات البهائية </a:t>
            </a:r>
            <a:endParaRPr/>
          </a:p>
        </p:txBody>
      </p:sp>
      <p:cxnSp>
        <p:nvCxnSpPr>
          <p:cNvPr id="218" name="Google Shape;218;p38"/>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مناجاة</a:t>
            </a:r>
            <a:endParaRPr/>
          </a:p>
        </p:txBody>
      </p:sp>
      <p:sp>
        <p:nvSpPr>
          <p:cNvPr id="224" name="Google Shape;224;p39"/>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b="1" lang="en" sz="1000" u="sng">
                <a:solidFill>
                  <a:schemeClr val="hlink"/>
                </a:solidFill>
                <a:hlinkClick r:id="rId3"/>
              </a:rPr>
              <a:t>https://www.youtube.com/watch?v=UWuXlMMeUiI&amp;list=RDUWuXlMMeUiI&amp;start_radio=1</a:t>
            </a:r>
            <a:endParaRPr b="1" sz="1000"/>
          </a:p>
          <a:p>
            <a:pPr indent="0" lvl="0" marL="0" rtl="0" algn="l">
              <a:lnSpc>
                <a:spcPct val="115000"/>
              </a:lnSpc>
              <a:spcBef>
                <a:spcPts val="1200"/>
              </a:spcBef>
              <a:spcAft>
                <a:spcPts val="0"/>
              </a:spcAft>
              <a:buSzPts val="1100"/>
              <a:buNone/>
            </a:pPr>
            <a:r>
              <a:rPr b="1" lang="en" sz="1000" u="sng">
                <a:solidFill>
                  <a:schemeClr val="hlink"/>
                </a:solidFill>
                <a:hlinkClick r:id="rId4"/>
              </a:rPr>
              <a:t>https://www.youtube.com/watch?v=dGsjz2DCuBs&amp;list=RDUWuXlMMeUiI&amp;index=2</a:t>
            </a:r>
            <a:endParaRPr b="1" sz="1000"/>
          </a:p>
          <a:p>
            <a:pPr indent="0" lvl="0" marL="0" rtl="0" algn="l">
              <a:lnSpc>
                <a:spcPct val="115000"/>
              </a:lnSpc>
              <a:spcBef>
                <a:spcPts val="1200"/>
              </a:spcBef>
              <a:spcAft>
                <a:spcPts val="0"/>
              </a:spcAft>
              <a:buSzPts val="1100"/>
              <a:buNone/>
            </a:pPr>
            <a:r>
              <a:rPr b="1" lang="en" sz="1000" u="sng">
                <a:solidFill>
                  <a:schemeClr val="hlink"/>
                </a:solidFill>
                <a:hlinkClick r:id="rId5"/>
              </a:rPr>
              <a:t>https://www.youtube.com/watch?v=PS9eyyq1gMc&amp;list=RDUWuXlMMeUiI&amp;index=3</a:t>
            </a:r>
            <a:endParaRPr b="1" sz="1000"/>
          </a:p>
          <a:p>
            <a:pPr indent="0" lvl="0" marL="0" rtl="0" algn="l">
              <a:lnSpc>
                <a:spcPct val="115000"/>
              </a:lnSpc>
              <a:spcBef>
                <a:spcPts val="1200"/>
              </a:spcBef>
              <a:spcAft>
                <a:spcPts val="0"/>
              </a:spcAft>
              <a:buSzPts val="1100"/>
              <a:buNone/>
            </a:pPr>
            <a:r>
              <a:rPr b="1" lang="en" sz="1000" u="sng">
                <a:solidFill>
                  <a:schemeClr val="hlink"/>
                </a:solidFill>
                <a:hlinkClick r:id="rId6"/>
              </a:rPr>
              <a:t>https://www.youtube.com/watch?v=sIeB8wCqQjw&amp;list=RDUWuXlMMeUiI&amp;index=20</a:t>
            </a:r>
            <a:endParaRPr b="1" sz="1000"/>
          </a:p>
          <a:p>
            <a:pPr indent="0" lvl="0" marL="0" rtl="0" algn="l">
              <a:lnSpc>
                <a:spcPct val="115000"/>
              </a:lnSpc>
              <a:spcBef>
                <a:spcPts val="1200"/>
              </a:spcBef>
              <a:spcAft>
                <a:spcPts val="0"/>
              </a:spcAft>
              <a:buSzPts val="1100"/>
              <a:buNone/>
            </a:pPr>
            <a:r>
              <a:rPr b="1" lang="en" sz="1000" u="sng">
                <a:solidFill>
                  <a:schemeClr val="hlink"/>
                </a:solidFill>
                <a:hlinkClick r:id="rId7"/>
              </a:rPr>
              <a:t>https://www.youtube.com/watch?v=Qm8mIXQaMcg</a:t>
            </a:r>
            <a:endParaRPr b="1" sz="1000"/>
          </a:p>
          <a:p>
            <a:pPr indent="0" lvl="0" marL="0" rtl="0" algn="l">
              <a:lnSpc>
                <a:spcPct val="115000"/>
              </a:lnSpc>
              <a:spcBef>
                <a:spcPts val="1200"/>
              </a:spcBef>
              <a:spcAft>
                <a:spcPts val="0"/>
              </a:spcAft>
              <a:buSzPts val="1100"/>
              <a:buNone/>
            </a:pPr>
            <a:r>
              <a:rPr b="1" lang="en" sz="1000" u="sng">
                <a:solidFill>
                  <a:schemeClr val="hlink"/>
                </a:solidFill>
                <a:hlinkClick r:id="rId8"/>
              </a:rPr>
              <a:t>https://www.youtube.com/watch?v=8IO2Uy_HjFg&amp;pp=0gcJCaIKAYcqIYzv</a:t>
            </a:r>
            <a:endParaRPr b="1" sz="1000"/>
          </a:p>
          <a:p>
            <a:pPr indent="0" lvl="0" marL="0" rtl="0" algn="l">
              <a:lnSpc>
                <a:spcPct val="115000"/>
              </a:lnSpc>
              <a:spcBef>
                <a:spcPts val="1200"/>
              </a:spcBef>
              <a:spcAft>
                <a:spcPts val="0"/>
              </a:spcAft>
              <a:buSzPts val="1100"/>
              <a:buNone/>
            </a:pPr>
            <a:r>
              <a:rPr b="1" lang="en" sz="1000" u="sng">
                <a:solidFill>
                  <a:schemeClr val="hlink"/>
                </a:solidFill>
                <a:hlinkClick r:id="rId9"/>
              </a:rPr>
              <a:t>https://www.youtube.com/watch?v=2uHogclr9Ec</a:t>
            </a:r>
            <a:endParaRPr b="1" sz="1000"/>
          </a:p>
          <a:p>
            <a:pPr indent="0" lvl="0" marL="0" rtl="0" algn="l">
              <a:lnSpc>
                <a:spcPct val="115000"/>
              </a:lnSpc>
              <a:spcBef>
                <a:spcPts val="1200"/>
              </a:spcBef>
              <a:spcAft>
                <a:spcPts val="0"/>
              </a:spcAft>
              <a:buSzPts val="1100"/>
              <a:buNone/>
            </a:pPr>
            <a:r>
              <a:t/>
            </a:r>
            <a:endParaRPr b="1" sz="1000"/>
          </a:p>
          <a:p>
            <a:pPr indent="0" lvl="0" marL="0" rtl="0" algn="l">
              <a:lnSpc>
                <a:spcPct val="115000"/>
              </a:lnSpc>
              <a:spcBef>
                <a:spcPts val="1200"/>
              </a:spcBef>
              <a:spcAft>
                <a:spcPts val="1200"/>
              </a:spcAft>
              <a:buSzPts val="1100"/>
              <a:buNone/>
            </a:pPr>
            <a:r>
              <a:t/>
            </a:r>
            <a:endParaRPr b="1" sz="1000"/>
          </a:p>
        </p:txBody>
      </p:sp>
      <p:cxnSp>
        <p:nvCxnSpPr>
          <p:cNvPr id="225" name="Google Shape;225;p39"/>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لقاءات مع البهائيين المصريين</a:t>
            </a:r>
            <a:endParaRPr/>
          </a:p>
        </p:txBody>
      </p:sp>
      <p:sp>
        <p:nvSpPr>
          <p:cNvPr id="231" name="Google Shape;231;p40"/>
          <p:cNvSpPr txBox="1"/>
          <p:nvPr>
            <p:ph idx="1" type="body"/>
          </p:nvPr>
        </p:nvSpPr>
        <p:spPr>
          <a:xfrm>
            <a:off x="311700" y="1152475"/>
            <a:ext cx="8520600" cy="3853200"/>
          </a:xfrm>
          <a:prstGeom prst="rect">
            <a:avLst/>
          </a:prstGeom>
          <a:noFill/>
          <a:ln>
            <a:noFill/>
          </a:ln>
        </p:spPr>
        <p:txBody>
          <a:bodyPr anchorCtr="0" anchor="t" bIns="91425" lIns="91425" spcFirstLastPara="1" rIns="91425" wrap="square" tIns="91425">
            <a:normAutofit lnSpcReduction="20000"/>
          </a:bodyPr>
          <a:lstStyle/>
          <a:p>
            <a:pPr indent="0" lvl="0" marL="0" rtl="1" algn="r">
              <a:lnSpc>
                <a:spcPct val="115000"/>
              </a:lnSpc>
              <a:spcBef>
                <a:spcPts val="0"/>
              </a:spcBef>
              <a:spcAft>
                <a:spcPts val="0"/>
              </a:spcAft>
              <a:buSzPts val="1800"/>
              <a:buNone/>
            </a:pPr>
            <a:r>
              <a:rPr lang="en"/>
              <a:t>1</a:t>
            </a:r>
            <a:r>
              <a:rPr lang="en" sz="1000"/>
              <a:t>- ابراهيم عيسي مع غادة علاء و محمد بن موسي (</a:t>
            </a:r>
            <a:r>
              <a:rPr lang="en" sz="1000">
                <a:solidFill>
                  <a:schemeClr val="hlink"/>
                </a:solidFill>
                <a:uFill>
                  <a:noFill/>
                </a:uFill>
                <a:hlinkClick r:id="rId3"/>
              </a:rPr>
              <a:t>مختلف عليه - البهائية</a:t>
            </a:r>
            <a:r>
              <a:rPr lang="en" sz="1000"/>
              <a:t>) </a:t>
            </a:r>
            <a:r>
              <a:rPr lang="en" sz="1000" u="sng">
                <a:solidFill>
                  <a:schemeClr val="hlink"/>
                </a:solidFill>
                <a:hlinkClick r:id="rId4"/>
              </a:rPr>
              <a:t>مختلف عليه - البهائية</a:t>
            </a:r>
            <a:endParaRPr sz="1000"/>
          </a:p>
          <a:p>
            <a:pPr indent="0" lvl="0" marL="0" rtl="1" algn="r">
              <a:lnSpc>
                <a:spcPct val="115000"/>
              </a:lnSpc>
              <a:spcBef>
                <a:spcPts val="1200"/>
              </a:spcBef>
              <a:spcAft>
                <a:spcPts val="0"/>
              </a:spcAft>
              <a:buSzPts val="1800"/>
              <a:buNone/>
            </a:pPr>
            <a:r>
              <a:rPr lang="en" sz="1000"/>
              <a:t>2- الساحة مع م.بهاء اسحاق </a:t>
            </a:r>
            <a:r>
              <a:rPr lang="en" sz="1000" u="sng">
                <a:solidFill>
                  <a:schemeClr val="hlink"/>
                </a:solidFill>
                <a:hlinkClick r:id="rId5"/>
              </a:rPr>
              <a:t>بهائى في مصر.. حكاية 3 أجيال</a:t>
            </a:r>
            <a:endParaRPr sz="1000"/>
          </a:p>
          <a:p>
            <a:pPr indent="0" lvl="0" marL="0" rtl="1" algn="r">
              <a:lnSpc>
                <a:spcPct val="115000"/>
              </a:lnSpc>
              <a:spcBef>
                <a:spcPts val="1200"/>
              </a:spcBef>
              <a:spcAft>
                <a:spcPts val="0"/>
              </a:spcAft>
              <a:buSzPts val="1800"/>
              <a:buNone/>
            </a:pPr>
            <a:r>
              <a:rPr lang="en" sz="1000"/>
              <a:t>3- </a:t>
            </a:r>
            <a:r>
              <a:rPr lang="en" sz="1000">
                <a:solidFill>
                  <a:schemeClr val="hlink"/>
                </a:solidFill>
                <a:uFill>
                  <a:noFill/>
                </a:uFill>
                <a:hlinkClick r:id="rId6"/>
              </a:rPr>
              <a:t>ما علاقة الدين البهائي بالطائفة الشيعية وإسرائيل؟</a:t>
            </a:r>
            <a:r>
              <a:rPr lang="en" sz="1000"/>
              <a:t> </a:t>
            </a:r>
            <a:r>
              <a:rPr lang="en" sz="1000" u="sng">
                <a:solidFill>
                  <a:schemeClr val="hlink"/>
                </a:solidFill>
                <a:hlinkClick r:id="rId7"/>
              </a:rPr>
              <a:t>ما علاقة الدين البهائي بالطائفة الشيعية وإسرائيل؟</a:t>
            </a:r>
            <a:endParaRPr sz="1000"/>
          </a:p>
          <a:p>
            <a:pPr indent="0" lvl="0" marL="0" rtl="1" algn="r">
              <a:lnSpc>
                <a:spcPct val="115000"/>
              </a:lnSpc>
              <a:spcBef>
                <a:spcPts val="1200"/>
              </a:spcBef>
              <a:spcAft>
                <a:spcPts val="0"/>
              </a:spcAft>
              <a:buSzPts val="1800"/>
              <a:buNone/>
            </a:pPr>
            <a:r>
              <a:rPr lang="en" sz="1000"/>
              <a:t>4- </a:t>
            </a:r>
            <a:r>
              <a:rPr lang="en" sz="1000">
                <a:solidFill>
                  <a:schemeClr val="hlink"/>
                </a:solidFill>
                <a:uFill>
                  <a:noFill/>
                </a:uFill>
                <a:hlinkClick r:id="rId8"/>
              </a:rPr>
              <a:t>مصر: لماذا يعاني البهائيون لدفن موتاهم؟</a:t>
            </a:r>
            <a:r>
              <a:rPr lang="en" sz="1000"/>
              <a:t> </a:t>
            </a:r>
            <a:r>
              <a:rPr lang="en" sz="1000" u="sng">
                <a:solidFill>
                  <a:schemeClr val="hlink"/>
                </a:solidFill>
                <a:hlinkClick r:id="rId9"/>
              </a:rPr>
              <a:t>مصر: لماذا يعاني البهائيون لدفن موتاهم؟</a:t>
            </a:r>
            <a:endParaRPr sz="1000"/>
          </a:p>
          <a:p>
            <a:pPr indent="0" lvl="0" marL="0" rtl="1" algn="r">
              <a:lnSpc>
                <a:spcPct val="115000"/>
              </a:lnSpc>
              <a:spcBef>
                <a:spcPts val="1200"/>
              </a:spcBef>
              <a:spcAft>
                <a:spcPts val="0"/>
              </a:spcAft>
              <a:buSzPts val="1800"/>
              <a:buNone/>
            </a:pPr>
            <a:r>
              <a:rPr lang="en" sz="1000"/>
              <a:t>5- </a:t>
            </a:r>
            <a:r>
              <a:rPr lang="en" sz="1000">
                <a:solidFill>
                  <a:schemeClr val="hlink"/>
                </a:solidFill>
                <a:uFill>
                  <a:noFill/>
                </a:uFill>
                <a:hlinkClick r:id="rId10"/>
              </a:rPr>
              <a:t>اعرف البهائية ومن البهائيين .... غادة علاء وبهاء إسحاق مع أحمد سعد زايد</a:t>
            </a:r>
            <a:r>
              <a:rPr lang="en"/>
              <a:t> </a:t>
            </a:r>
            <a:r>
              <a:rPr lang="en" sz="1000" u="sng">
                <a:solidFill>
                  <a:schemeClr val="hlink"/>
                </a:solidFill>
                <a:hlinkClick r:id="rId11"/>
              </a:rPr>
              <a:t>اعرف البهائية ومن البهائيين ....  غادة علاء وبهاء إسحاق مع أحمد سعد زايد</a:t>
            </a:r>
            <a:endParaRPr/>
          </a:p>
          <a:p>
            <a:pPr indent="0" lvl="0" marL="0" rtl="1" algn="r">
              <a:lnSpc>
                <a:spcPct val="115000"/>
              </a:lnSpc>
              <a:spcBef>
                <a:spcPts val="1200"/>
              </a:spcBef>
              <a:spcAft>
                <a:spcPts val="0"/>
              </a:spcAft>
              <a:buSzPts val="1800"/>
              <a:buNone/>
            </a:pPr>
            <a:r>
              <a:rPr lang="en" sz="1000"/>
              <a:t>6- </a:t>
            </a:r>
            <a:r>
              <a:rPr lang="en" sz="1000">
                <a:solidFill>
                  <a:srgbClr val="0F0F0F"/>
                </a:solidFill>
                <a:highlight>
                  <a:srgbClr val="FFFFFF"/>
                </a:highlight>
                <a:uFill>
                  <a:noFill/>
                </a:uFill>
                <a:latin typeface="Roboto"/>
                <a:ea typeface="Roboto"/>
                <a:cs typeface="Roboto"/>
                <a:sym typeface="Roboto"/>
                <a:hlinkClick r:id="rId12">
                  <a:extLst>
                    <a:ext uri="{A12FA001-AC4F-418D-AE19-62706E023703}">
                      <ahyp:hlinkClr val="tx"/>
                    </a:ext>
                  </a:extLst>
                </a:hlinkClick>
              </a:rPr>
              <a:t>البهائيون في إسرائيل</a:t>
            </a:r>
            <a:r>
              <a:rPr lang="en" sz="1000"/>
              <a:t> </a:t>
            </a:r>
            <a:r>
              <a:rPr lang="en" sz="1000" u="sng">
                <a:solidFill>
                  <a:schemeClr val="hlink"/>
                </a:solidFill>
                <a:hlinkClick r:id="rId13"/>
              </a:rPr>
              <a:t>البهائيون في إسرائيل</a:t>
            </a:r>
            <a:endParaRPr sz="1000"/>
          </a:p>
          <a:p>
            <a:pPr indent="0" lvl="0" marL="0" rtl="1" algn="r">
              <a:lnSpc>
                <a:spcPct val="115000"/>
              </a:lnSpc>
              <a:spcBef>
                <a:spcPts val="1200"/>
              </a:spcBef>
              <a:spcAft>
                <a:spcPts val="0"/>
              </a:spcAft>
              <a:buSzPts val="1800"/>
              <a:buNone/>
            </a:pPr>
            <a:r>
              <a:rPr lang="en" sz="1000"/>
              <a:t>7- </a:t>
            </a:r>
            <a:r>
              <a:rPr lang="en" sz="1000">
                <a:solidFill>
                  <a:srgbClr val="0F0F0F"/>
                </a:solidFill>
                <a:highlight>
                  <a:srgbClr val="FFFFFF"/>
                </a:highlight>
                <a:latin typeface="Roboto"/>
                <a:ea typeface="Roboto"/>
                <a:cs typeface="Roboto"/>
                <a:sym typeface="Roboto"/>
              </a:rPr>
              <a:t>أسرار الديانة البهائية د/ سيامك ساساني ... أ/ غادة علاء ... مع سام  </a:t>
            </a:r>
            <a:r>
              <a:rPr lang="en" sz="1100" u="sng">
                <a:solidFill>
                  <a:schemeClr val="hlink"/>
                </a:solidFill>
                <a:hlinkClick r:id="rId14"/>
              </a:rPr>
              <a:t>اسرار الديانة البهائية د/ سيامك ساساني ... أ/ غادة علاء ... مع سام</a:t>
            </a:r>
            <a:endParaRPr sz="1000">
              <a:solidFill>
                <a:srgbClr val="0F0F0F"/>
              </a:solidFill>
              <a:highlight>
                <a:srgbClr val="FFFFFF"/>
              </a:highlight>
              <a:latin typeface="Roboto"/>
              <a:ea typeface="Roboto"/>
              <a:cs typeface="Roboto"/>
              <a:sym typeface="Roboto"/>
            </a:endParaRPr>
          </a:p>
          <a:p>
            <a:pPr indent="0" lvl="0" marL="0" rtl="1" algn="r">
              <a:lnSpc>
                <a:spcPct val="115000"/>
              </a:lnSpc>
              <a:spcBef>
                <a:spcPts val="1200"/>
              </a:spcBef>
              <a:spcAft>
                <a:spcPts val="0"/>
              </a:spcAft>
              <a:buSzPts val="1800"/>
              <a:buNone/>
            </a:pPr>
            <a:r>
              <a:rPr lang="en" sz="1000"/>
              <a:t>8- </a:t>
            </a:r>
            <a:r>
              <a:rPr lang="en" sz="1000">
                <a:solidFill>
                  <a:srgbClr val="0F0F0F"/>
                </a:solidFill>
                <a:highlight>
                  <a:srgbClr val="FFFFFF"/>
                </a:highlight>
                <a:latin typeface="Roboto"/>
                <a:ea typeface="Roboto"/>
                <a:cs typeface="Roboto"/>
                <a:sym typeface="Roboto"/>
              </a:rPr>
              <a:t>1-2 سيرة أسرة مصرية بهائية  </a:t>
            </a:r>
            <a:r>
              <a:rPr lang="en" sz="1100" u="sng">
                <a:solidFill>
                  <a:schemeClr val="hlink"/>
                </a:solidFill>
                <a:hlinkClick r:id="rId15"/>
              </a:rPr>
              <a:t>1-2 سيرة أسرة مصرية بهائية</a:t>
            </a:r>
            <a:endParaRPr sz="1000">
              <a:solidFill>
                <a:srgbClr val="0F0F0F"/>
              </a:solidFill>
              <a:highlight>
                <a:srgbClr val="FFFFFF"/>
              </a:highlight>
              <a:latin typeface="Roboto"/>
              <a:ea typeface="Roboto"/>
              <a:cs typeface="Roboto"/>
              <a:sym typeface="Roboto"/>
            </a:endParaRPr>
          </a:p>
          <a:p>
            <a:pPr indent="0" lvl="0" marL="0" rtl="1" algn="r">
              <a:lnSpc>
                <a:spcPct val="115000"/>
              </a:lnSpc>
              <a:spcBef>
                <a:spcPts val="1200"/>
              </a:spcBef>
              <a:spcAft>
                <a:spcPts val="0"/>
              </a:spcAft>
              <a:buSzPts val="1800"/>
              <a:buNone/>
            </a:pPr>
            <a:r>
              <a:rPr lang="en" sz="1050">
                <a:solidFill>
                  <a:srgbClr val="0F0F0F"/>
                </a:solidFill>
                <a:highlight>
                  <a:srgbClr val="FFFFFF"/>
                </a:highlight>
                <a:latin typeface="Roboto"/>
                <a:ea typeface="Roboto"/>
                <a:cs typeface="Roboto"/>
                <a:sym typeface="Roboto"/>
              </a:rPr>
              <a:t>9- بتوقيت مصر : لقاء المتحدث الإعلامي للبهائيين في مصر بعد رفض المحكمة تخصيص مقابر للا دينين </a:t>
            </a:r>
            <a:r>
              <a:rPr lang="en" sz="1100" u="sng">
                <a:solidFill>
                  <a:schemeClr val="hlink"/>
                </a:solidFill>
                <a:hlinkClick r:id="rId16"/>
              </a:rPr>
              <a:t>بتوقيت مصر : لقاء المتحدث الإعلامي للبهائيين في مصر بعد رفض المحكمة تخصيص مقابر للادينين</a:t>
            </a:r>
            <a:endParaRPr sz="1000">
              <a:solidFill>
                <a:srgbClr val="0F0F0F"/>
              </a:solidFill>
              <a:highlight>
                <a:srgbClr val="FFFFFF"/>
              </a:highlight>
              <a:latin typeface="Roboto"/>
              <a:ea typeface="Roboto"/>
              <a:cs typeface="Roboto"/>
              <a:sym typeface="Roboto"/>
            </a:endParaRPr>
          </a:p>
          <a:p>
            <a:pPr indent="0" lvl="0" marL="0" rtl="1" algn="r">
              <a:lnSpc>
                <a:spcPct val="115000"/>
              </a:lnSpc>
              <a:spcBef>
                <a:spcPts val="1200"/>
              </a:spcBef>
              <a:spcAft>
                <a:spcPts val="0"/>
              </a:spcAft>
              <a:buSzPts val="1800"/>
              <a:buNone/>
            </a:pPr>
            <a:r>
              <a:rPr lang="en" sz="1000">
                <a:solidFill>
                  <a:srgbClr val="0F0F0F"/>
                </a:solidFill>
                <a:highlight>
                  <a:srgbClr val="FFFFFF"/>
                </a:highlight>
                <a:latin typeface="Roboto"/>
                <a:ea typeface="Roboto"/>
                <a:cs typeface="Roboto"/>
                <a:sym typeface="Roboto"/>
              </a:rPr>
              <a:t> </a:t>
            </a:r>
            <a:endParaRPr sz="1000">
              <a:solidFill>
                <a:srgbClr val="0F0F0F"/>
              </a:solidFill>
              <a:highlight>
                <a:srgbClr val="FFFFFF"/>
              </a:highlight>
              <a:latin typeface="Roboto"/>
              <a:ea typeface="Roboto"/>
              <a:cs typeface="Roboto"/>
              <a:sym typeface="Roboto"/>
            </a:endParaRPr>
          </a:p>
          <a:p>
            <a:pPr indent="0" lvl="0" marL="0" rtl="1" algn="r">
              <a:lnSpc>
                <a:spcPct val="115000"/>
              </a:lnSpc>
              <a:spcBef>
                <a:spcPts val="1200"/>
              </a:spcBef>
              <a:spcAft>
                <a:spcPts val="1200"/>
              </a:spcAft>
              <a:buSzPts val="1800"/>
              <a:buNone/>
            </a:pPr>
            <a:r>
              <a:t/>
            </a:r>
            <a:endParaRPr sz="1000"/>
          </a:p>
        </p:txBody>
      </p:sp>
      <p:cxnSp>
        <p:nvCxnSpPr>
          <p:cNvPr id="232" name="Google Shape;232;p40"/>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ph type="title"/>
          </p:nvPr>
        </p:nvSpPr>
        <p:spPr>
          <a:xfrm>
            <a:off x="347525" y="25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1" algn="ctr">
              <a:lnSpc>
                <a:spcPct val="100000"/>
              </a:lnSpc>
              <a:spcBef>
                <a:spcPts val="0"/>
              </a:spcBef>
              <a:spcAft>
                <a:spcPts val="0"/>
              </a:spcAft>
              <a:buSzPct val="111111"/>
              <a:buNone/>
            </a:pPr>
            <a:r>
              <a:rPr b="1" lang="en"/>
              <a:t>مقالات من الجامعة البهائية العالمية عن البهائيين فى مصر</a:t>
            </a:r>
            <a:endParaRPr b="1"/>
          </a:p>
        </p:txBody>
      </p:sp>
      <p:sp>
        <p:nvSpPr>
          <p:cNvPr id="238" name="Google Shape;238;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440"/>
              <a:buNone/>
            </a:pPr>
            <a:r>
              <a:rPr lang="en" sz="1120" u="sng">
                <a:solidFill>
                  <a:schemeClr val="hlink"/>
                </a:solidFill>
                <a:hlinkClick r:id="rId3"/>
              </a:rPr>
              <a:t>UN experts address Egypt rights violations against Baha'i community in unprecedented intervention</a:t>
            </a:r>
            <a:endParaRPr sz="1120"/>
          </a:p>
          <a:p>
            <a:pPr indent="0" lvl="0" marL="0" rtl="0" algn="l">
              <a:lnSpc>
                <a:spcPct val="95000"/>
              </a:lnSpc>
              <a:spcBef>
                <a:spcPts val="1200"/>
              </a:spcBef>
              <a:spcAft>
                <a:spcPts val="0"/>
              </a:spcAft>
              <a:buSzPts val="440"/>
              <a:buNone/>
            </a:pPr>
            <a:r>
              <a:rPr lang="en" sz="1120" u="sng">
                <a:solidFill>
                  <a:schemeClr val="hlink"/>
                </a:solidFill>
                <a:hlinkClick r:id="rId4"/>
              </a:rPr>
              <a:t>Statement on Egypt during the 59th UN Human Rights Council | Bahá’í International Community</a:t>
            </a:r>
            <a:endParaRPr sz="1120"/>
          </a:p>
          <a:p>
            <a:pPr indent="0" lvl="0" marL="0" rtl="0" algn="l">
              <a:lnSpc>
                <a:spcPct val="95000"/>
              </a:lnSpc>
              <a:spcBef>
                <a:spcPts val="1200"/>
              </a:spcBef>
              <a:spcAft>
                <a:spcPts val="0"/>
              </a:spcAft>
              <a:buSzPts val="440"/>
              <a:buNone/>
            </a:pPr>
            <a:r>
              <a:rPr lang="en" sz="1120" u="sng">
                <a:solidFill>
                  <a:schemeClr val="hlink"/>
                </a:solidFill>
                <a:hlinkClick r:id="rId5"/>
              </a:rPr>
              <a:t>Statement on Egypt during the 58th UN Human Rights Council | Bahá’í International Community</a:t>
            </a:r>
            <a:endParaRPr sz="1120"/>
          </a:p>
          <a:p>
            <a:pPr indent="0" lvl="0" marL="0" rtl="0" algn="l">
              <a:lnSpc>
                <a:spcPct val="95000"/>
              </a:lnSpc>
              <a:spcBef>
                <a:spcPts val="1200"/>
              </a:spcBef>
              <a:spcAft>
                <a:spcPts val="0"/>
              </a:spcAft>
              <a:buSzPts val="440"/>
              <a:buNone/>
            </a:pPr>
            <a:r>
              <a:rPr lang="en" sz="1120" u="sng">
                <a:solidFill>
                  <a:schemeClr val="hlink"/>
                </a:solidFill>
                <a:hlinkClick r:id="rId6"/>
              </a:rPr>
              <a:t>Amid worsening persecution of Baha’is, UN Member States urge Egypt to respect freedom of religion or belief during human rights review | Bahá’í International Community</a:t>
            </a:r>
            <a:endParaRPr sz="1120"/>
          </a:p>
          <a:p>
            <a:pPr indent="0" lvl="0" marL="0" rtl="0" algn="l">
              <a:lnSpc>
                <a:spcPct val="95000"/>
              </a:lnSpc>
              <a:spcBef>
                <a:spcPts val="1200"/>
              </a:spcBef>
              <a:spcAft>
                <a:spcPts val="0"/>
              </a:spcAft>
              <a:buSzPts val="440"/>
              <a:buNone/>
            </a:pPr>
            <a:r>
              <a:rPr lang="en" sz="1120" u="sng">
                <a:solidFill>
                  <a:schemeClr val="hlink"/>
                </a:solidFill>
                <a:hlinkClick r:id="rId7"/>
              </a:rPr>
              <a:t>Egypt must be held accountable for persecuting Baha'is at upcoming UN human rights review | Bahá’í International Community</a:t>
            </a:r>
            <a:endParaRPr sz="1120"/>
          </a:p>
          <a:p>
            <a:pPr indent="0" lvl="0" marL="0" rtl="0" algn="l">
              <a:lnSpc>
                <a:spcPct val="95000"/>
              </a:lnSpc>
              <a:spcBef>
                <a:spcPts val="1200"/>
              </a:spcBef>
              <a:spcAft>
                <a:spcPts val="0"/>
              </a:spcAft>
              <a:buSzPts val="440"/>
              <a:buNone/>
            </a:pPr>
            <a:r>
              <a:rPr lang="en" sz="1120" u="sng">
                <a:solidFill>
                  <a:schemeClr val="hlink"/>
                </a:solidFill>
                <a:hlinkClick r:id="rId8"/>
              </a:rPr>
              <a:t>A dangerous new front: Baha'i International Community expresses concern over involvement of Egyptian authorities in targeting Baha'is</a:t>
            </a:r>
            <a:endParaRPr sz="1120"/>
          </a:p>
          <a:p>
            <a:pPr indent="0" lvl="0" marL="0" rtl="0" algn="l">
              <a:lnSpc>
                <a:spcPct val="95000"/>
              </a:lnSpc>
              <a:spcBef>
                <a:spcPts val="1200"/>
              </a:spcBef>
              <a:spcAft>
                <a:spcPts val="0"/>
              </a:spcAft>
              <a:buSzPts val="440"/>
              <a:buNone/>
            </a:pPr>
            <a:r>
              <a:rPr lang="en" sz="1120" u="sng">
                <a:solidFill>
                  <a:schemeClr val="hlink"/>
                </a:solidFill>
                <a:hlinkClick r:id="rId9"/>
              </a:rPr>
              <a:t>Statement of the Bahá’í International Community at the 17th session of the United Nations Forum on Minority Issues.</a:t>
            </a:r>
            <a:endParaRPr sz="1120"/>
          </a:p>
          <a:p>
            <a:pPr indent="0" lvl="0" marL="0" rtl="0" algn="l">
              <a:lnSpc>
                <a:spcPct val="95000"/>
              </a:lnSpc>
              <a:spcBef>
                <a:spcPts val="1200"/>
              </a:spcBef>
              <a:spcAft>
                <a:spcPts val="0"/>
              </a:spcAft>
              <a:buSzPts val="440"/>
              <a:buNone/>
            </a:pPr>
            <a:r>
              <a:rPr lang="en" sz="1120" u="sng">
                <a:solidFill>
                  <a:schemeClr val="hlink"/>
                </a:solidFill>
                <a:hlinkClick r:id="rId10"/>
              </a:rPr>
              <a:t>Statement by the Baha'i International Community regarding human rights in Egypt</a:t>
            </a:r>
            <a:endParaRPr sz="1120"/>
          </a:p>
          <a:p>
            <a:pPr indent="0" lvl="0" marL="0" rtl="0" algn="l">
              <a:lnSpc>
                <a:spcPct val="95000"/>
              </a:lnSpc>
              <a:spcBef>
                <a:spcPts val="1200"/>
              </a:spcBef>
              <a:spcAft>
                <a:spcPts val="0"/>
              </a:spcAft>
              <a:buSzPts val="440"/>
              <a:buNone/>
            </a:pPr>
            <a:r>
              <a:rPr lang="en" sz="1120" u="sng">
                <a:solidFill>
                  <a:schemeClr val="hlink"/>
                </a:solidFill>
                <a:hlinkClick r:id="rId11"/>
              </a:rPr>
              <a:t>BIC Cairo at COP 27 shares Egyptian Baha’i community’s development activities</a:t>
            </a:r>
            <a:endParaRPr sz="1120"/>
          </a:p>
          <a:p>
            <a:pPr indent="0" lvl="0" marL="0" rtl="0" algn="l">
              <a:lnSpc>
                <a:spcPct val="95000"/>
              </a:lnSpc>
              <a:spcBef>
                <a:spcPts val="1200"/>
              </a:spcBef>
              <a:spcAft>
                <a:spcPts val="0"/>
              </a:spcAft>
              <a:buSzPts val="440"/>
              <a:buNone/>
            </a:pPr>
            <a:r>
              <a:t/>
            </a:r>
            <a:endParaRPr sz="1120"/>
          </a:p>
          <a:p>
            <a:pPr indent="0" lvl="0" marL="0" rtl="0" algn="l">
              <a:lnSpc>
                <a:spcPct val="95000"/>
              </a:lnSpc>
              <a:spcBef>
                <a:spcPts val="1200"/>
              </a:spcBef>
              <a:spcAft>
                <a:spcPts val="1200"/>
              </a:spcAft>
              <a:buSzPts val="440"/>
              <a:buNone/>
            </a:pPr>
            <a:r>
              <a:t/>
            </a:r>
            <a:endParaRPr sz="1120"/>
          </a:p>
        </p:txBody>
      </p:sp>
      <p:cxnSp>
        <p:nvCxnSpPr>
          <p:cNvPr id="239" name="Google Shape;239;p41"/>
          <p:cNvCxnSpPr/>
          <p:nvPr/>
        </p:nvCxnSpPr>
        <p:spPr>
          <a:xfrm>
            <a:off x="214050" y="863700"/>
            <a:ext cx="876360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42"/>
          <p:cNvPicPr preferRelativeResize="0"/>
          <p:nvPr/>
        </p:nvPicPr>
        <p:blipFill rotWithShape="1">
          <a:blip r:embed="rId3">
            <a:alphaModFix/>
          </a:blip>
          <a:srcRect b="0" l="0" r="0" t="0"/>
          <a:stretch/>
        </p:blipFill>
        <p:spPr>
          <a:xfrm>
            <a:off x="5" y="1601350"/>
            <a:ext cx="9095850" cy="3542150"/>
          </a:xfrm>
          <a:prstGeom prst="rect">
            <a:avLst/>
          </a:prstGeom>
          <a:noFill/>
          <a:ln>
            <a:noFill/>
          </a:ln>
        </p:spPr>
      </p:pic>
      <p:sp>
        <p:nvSpPr>
          <p:cNvPr id="245" name="Google Shape;245;p42"/>
          <p:cNvSpPr txBox="1"/>
          <p:nvPr>
            <p:ph type="title"/>
          </p:nvPr>
        </p:nvSpPr>
        <p:spPr>
          <a:xfrm>
            <a:off x="347525" y="258825"/>
            <a:ext cx="8520600" cy="572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fontScale="90000"/>
          </a:bodyPr>
          <a:lstStyle/>
          <a:p>
            <a:pPr indent="0" lvl="0" marL="0" rtl="1" algn="r">
              <a:lnSpc>
                <a:spcPct val="100000"/>
              </a:lnSpc>
              <a:spcBef>
                <a:spcPts val="0"/>
              </a:spcBef>
              <a:spcAft>
                <a:spcPts val="0"/>
              </a:spcAft>
              <a:buSzPct val="111111"/>
              <a:buNone/>
            </a:pPr>
            <a:r>
              <a:rPr lang="en"/>
              <a:t>نهاية الصفحة</a:t>
            </a:r>
            <a:endParaRPr/>
          </a:p>
        </p:txBody>
      </p:sp>
      <p:cxnSp>
        <p:nvCxnSpPr>
          <p:cNvPr id="246" name="Google Shape;246;p42"/>
          <p:cNvCxnSpPr/>
          <p:nvPr/>
        </p:nvCxnSpPr>
        <p:spPr>
          <a:xfrm>
            <a:off x="2195450" y="863700"/>
            <a:ext cx="6782100" cy="0"/>
          </a:xfrm>
          <a:prstGeom prst="straightConnector1">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